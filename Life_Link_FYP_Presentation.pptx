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panel members and supervisor. We are Ubaid Ullah, Muhammad Saad Awan and Umar Rashid, and today we present our Final Year Project II, 'Life Link' — a mobile platform built to solve the problem of finding blood donors quickly during emergencies. The project is supervised by Engr. Waseem Ullah Khan and submitted to the Institute of Computer Sciences and IT at The University of Agriculture, Peshawar. Over the next ~15 minutes we'll cover the problem, our proposed solution, the features we built, the technology and architecture, and the design diagrams.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roadmap for my presentation. I'll start with the problem and motivation, compare the current manual process with my proposed app, state my objectives, then walk through the features, the technology, and the engineering diagrams. I'll finish with testing, challenges and future work. Please feel free to ask questions at the 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start with the core problem. In an emergency, finding the right blood at the right time is genuinely hard. Today people rely on phone calls and WhatsApp groups, which are slow and reach only a small circle. There's no central system that matches a patient with nearby donors of the correct blood group, and willing donors have no easy way to find requests around them. On top of that, emergency contacts like ambulances and blood banks are scattered. The cost of this delay can literally be a life. This is the gap Life Link is designed to close.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how the process works today. A patient or relative manually calls hospitals, relatives and friends, posts in WhatsApp groups, and hopes someone responds. There is no filtering by blood group or location, no tracking, and lots of wasted time. The key weaknesses are: it's slow, it's manual, it has limited reach, and there's no guarantee of a matching donor.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my proposed solution. With Life Link, a patient posts a blood request once. The system automatically finds donors with the matching blood group in the same city and instantly pushes a notification to them. Donors can respond and chat in real time. All emergency services — ambulances, organizations and volunteers — live in one app. So the process becomes automated, targeted, fast, and far wider in reach than manual calling.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My overall aim was to reduce the time it takes to find a matching donor. To achieve that I set seven concrete objectives: user and donor registration, posting blood requests, automatic matching with instant notifications, donor search, an emergency services directory, real-time chat, and strong data security. Each objective maps directly to a feature I'll show you next, so the project is measurable against these goals.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important in an FYP to be clear about boundaries. In scope: a cross-platform mobile app with donor and patient accounts, request posting, automatic matching, notifications, chat and a services directory. Out of scope: payments, lab-level medical verification, live GPS navigation, government database integration, and a web version. Defining this kept the project achievable in the available time and is a natural lead-in to my future work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whole product on one slide — nine core features grouped into three areas. First, donation: donor profiles, blood requests and smart matching. Second, discovery and communication: find donors, real-time chat and push alerts. Third, the emergency directory: ambulances, organizations and volunteers. I'll now go a little deeper into the most important ones over the next few slides.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app. When a patient submits a blood request, a Cloud Function on the backend triggers automatically. It looks through the user base and selects only the donors whose blood group and city match — comparison is case-insensitive so 'a+' and 'A+' both work — and it never notifies the person who made the request. Those matched donors get an instant push notification. Requests also have an open/closed status and an expiry date so the feed stays fresh. The big win: a process that used to take dozens of phone calls now happens in seconds.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requests, donors can flip an availability switch, and when they do, the community is notified that a new donor is available. Anyone can search and filter the donor list by blood group and city. For coordination, I built real-time chat on Firestore streams, with unread counts, read receipts and message previews — it feels like a normal messaging app. Finally, the emergency directory gives three ready-to-use lists — ambulances, organizations and volunteers — each with one-tap calling, so help is never more than a tap away.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engineering side, the front end is Flutter with Dart, using the Provider pattern for state management and ScreenUtil for responsive layouts. The backend is entirely Firebase: Authentication for login, Cloud Firestore as the real-time NoSQL database, Storage for profile images, and Cloud Functions in Node.js for server logic. Notifications use Firebase Cloud Messaging. I chose Flutter plus Firebase because one codebase ships to both Android and iOS, the database is real-time by default, and the backend is serverless — so as a single student I didn't have to manage any servers.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system architecture, organized in three layers. The top presentation layer is the Flutter UI — all the screens. The middle layer is the application logic — my Providers and Services handle state and talk to the backend. The bottom data layer is Firebase: Auth, Firestore, Storage, Cloud Functions and Messaging. Separating these layers keeps the UI independent of the backend and makes the code easier to maintain and test.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use-case diagram captures what each actor can do. There are two actors. The User/Donor can register, log in, post and view blood requests, toggle donor availability, search donors, chat, and browse the emergency directory. The Admin manages the curated content — ambulances, organizations and volunteers. Both authenticate through Firebase Auth. This diagram was my functional-requirements blueprint for the whole build.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context-level data flow diagram shows the entire Life Link system as a single process in the middle, with the external entities around it — the user, the admin, and Firebase services. The arrows show what data moves where: users send requests and profiles in, and receive notifications and matches out. It's the highest-level view before we break the system into detailed processes.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1 zooms in and breaks the single process into the major sub-processes: authentication, request management, donor matching, notifications, chat and the directory. You can see how each process reads from and writes to the Firestore data stores — Users, Blood Requests, Chats and so on. This decomposition guided how I structured my services in code.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ERD shows the data model. The central entity is the User, which relates to Blood Requests (a user creates many requests), to Chats and Messages (users exchange messages), and to Notifications. Separate entities hold the directory data — Organizations, Ambulances and Volunteers. The relationships and keys here map directly to my Firestore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Firestore is a NoSQL document database, this slide shows the actual collection schema rather than relational tables. The main collections are users, Blood_request, chats with a messages sub-collection, Ambulance, organizations, Volunteer, and a per-user notifications sub-collection. Each box lists the fields and their types. This is the concrete shape of the data my app reads and writes.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this is health-related data, security mattered. I wrote Firestore and Storage security rules that enforce four things. One: every operation requires authentication. Two: data ownership — you can only change your own profile and your own requests. Three: chat privacy — only the two people in a conversation can see its messages. Four: the curated directory is read-only for normal users. Crucially, these rules run on Google's servers, so even a tampered client cannot bypass them.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validated the app on several levels. Functional testing checked every feature against its requirement. I specifically tested the matching logic to confirm that only correct-blood-group, same-city donors get notified and the creator is excluded. I verified notifications arrive in both foreground and background on real phones. I tested across different screen sizes thanks to the responsive layout, and I did security testing by trying unauthorized access, which the rules correctly blocked. Finally, peers used the app and their feedback helped me refine the UI.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did I actually achieve? A complete, working cross-platform app with over nine core features across more than twenty-five screens, running on both iOS and Android from one codebase. The headline result is the matching: what used to be dozens of manual phone calls is now a single automatic, targeted broadcast that reaches the right donors in seconds. Real-time chat and notifications are live on Firebase, and all the emergency services are now in one place.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project teaches you something. The hardest part was the server side — getting Cloud Functions and push notifications to fire reliably, which taught me to normalize data so matching isn't broken by capitalization or spaces. Real-time chat taught me to manage Firestore subscriptions carefully to avoid leaks. Provider showed me the value of separating UI from logic, and writing security rules taught me to balance strictness with usability. Most importantly, I owned a real product end to end — from design through testing and documentation.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There's a clear roadmap beyond the FYP. I'd add GPS and live maps to show nearby donors and routes. I'd add donation history with gamification to encourage repeat donors. Integrating verified blood banks would show real-time stock. An admin web dashboard would make managing content and viewing analytics easier. Beyond that: multi-language support, AI-based urgency ranking, and optional medical verification. These show the project has room to grow into a production-grade service.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Life Link addresses a real and life-critical problem by replacing slow manual calling with automatic, location- and blood-group-aware matching. It's built on a modern, scalable stack — Flutter for a single cross-platform app and Firebase for a real-time serverless backend. I met all of my core objectives, and the result is a practical platform that genuinely has the potential to save lives. Thank you.</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end of my presentation. Thank you for your time and attention. I'd be happy to take any questions, and I can give a live demo of any feature you'd like to see. Tip: be ready for common questions — why Flutter over native, how matching scales with many users, how you handle privacy of medical data, and what happens if no donor matches.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uni_logo.png"/>
          <p:cNvPicPr>
            <a:picLocks noChangeAspect="1"/>
          </p:cNvPicPr>
          <p:nvPr/>
        </p:nvPicPr>
        <p:blipFill>
          <a:blip r:embed="rId2"/>
          <a:stretch>
            <a:fillRect/>
          </a:stretch>
        </p:blipFill>
        <p:spPr>
          <a:xfrm>
            <a:off x="9646920" y="502920"/>
            <a:ext cx="1828800" cy="1828800"/>
          </a:xfrm>
          <a:prstGeom prst="rect">
            <a:avLst/>
          </a:prstGeom>
        </p:spPr>
      </p:pic>
      <p:sp>
        <p:nvSpPr>
          <p:cNvPr id="6" name="TextBox 5"/>
          <p:cNvSpPr txBox="1"/>
          <p:nvPr/>
        </p:nvSpPr>
        <p:spPr>
          <a:xfrm>
            <a:off x="914400" y="1143000"/>
            <a:ext cx="8229600" cy="457200"/>
          </a:xfrm>
          <a:prstGeom prst="rect">
            <a:avLst/>
          </a:prstGeom>
          <a:noFill/>
        </p:spPr>
        <p:txBody>
          <a:bodyPr wrap="square" anchor="t">
            <a:spAutoFit/>
          </a:bodyPr>
          <a:lstStyle/>
          <a:p>
            <a:r>
              <a:rPr sz="1500" b="1" i="0">
                <a:solidFill>
                  <a:srgbClr val="E53935"/>
                </a:solidFill>
                <a:latin typeface="Calibri"/>
              </a:rPr>
              <a:t>FINAL YEAR PROJECT II</a:t>
            </a:r>
          </a:p>
        </p:txBody>
      </p:sp>
      <p:sp>
        <p:nvSpPr>
          <p:cNvPr id="7" name="TextBox 6"/>
          <p:cNvSpPr txBox="1"/>
          <p:nvPr/>
        </p:nvSpPr>
        <p:spPr>
          <a:xfrm>
            <a:off x="868680" y="1627632"/>
            <a:ext cx="8595360" cy="1371600"/>
          </a:xfrm>
          <a:prstGeom prst="rect">
            <a:avLst/>
          </a:prstGeom>
          <a:noFill/>
        </p:spPr>
        <p:txBody>
          <a:bodyPr wrap="square" anchor="t">
            <a:spAutoFit/>
          </a:bodyPr>
          <a:lstStyle/>
          <a:p>
            <a:r>
              <a:rPr sz="6600" b="1" i="0">
                <a:solidFill>
                  <a:srgbClr val="FFFFFF"/>
                </a:solidFill>
                <a:latin typeface="Calibri"/>
              </a:rPr>
              <a:t>Life Link</a:t>
            </a:r>
          </a:p>
        </p:txBody>
      </p:sp>
      <p:sp>
        <p:nvSpPr>
          <p:cNvPr id="8" name="TextBox 7"/>
          <p:cNvSpPr txBox="1"/>
          <p:nvPr/>
        </p:nvSpPr>
        <p:spPr>
          <a:xfrm>
            <a:off x="914400" y="2788920"/>
            <a:ext cx="10058400" cy="731520"/>
          </a:xfrm>
          <a:prstGeom prst="rect">
            <a:avLst/>
          </a:prstGeom>
          <a:noFill/>
        </p:spPr>
        <p:txBody>
          <a:bodyPr wrap="square" anchor="t">
            <a:spAutoFit/>
          </a:bodyPr>
          <a:lstStyle/>
          <a:p>
            <a:r>
              <a:rPr sz="2300" b="0" i="0">
                <a:solidFill>
                  <a:srgbClr val="E8E8EA"/>
                </a:solidFill>
                <a:latin typeface="Calibri"/>
              </a:rPr>
              <a:t>A Blood Donation &amp; Emergency Response Mobile Platform</a:t>
            </a:r>
          </a:p>
        </p:txBody>
      </p:sp>
      <p:sp>
        <p:nvSpPr>
          <p:cNvPr id="9" name="TextBox 8"/>
          <p:cNvSpPr txBox="1"/>
          <p:nvPr/>
        </p:nvSpPr>
        <p:spPr>
          <a:xfrm>
            <a:off x="914400" y="3493008"/>
            <a:ext cx="10058400" cy="548640"/>
          </a:xfrm>
          <a:prstGeom prst="rect">
            <a:avLst/>
          </a:prstGeom>
          <a:noFill/>
        </p:spPr>
        <p:txBody>
          <a:bodyPr wrap="square" anchor="t">
            <a:spAutoFit/>
          </a:bodyPr>
          <a:lstStyle/>
          <a:p>
            <a:r>
              <a:rPr sz="1400" b="0" i="1">
                <a:solidFill>
                  <a:srgbClr val="555C66"/>
                </a:solidFill>
                <a:latin typeface="Calibri"/>
              </a:rPr>
              <a:t>Connecting blood donors, patients and emergency services in real time</a:t>
            </a:r>
          </a:p>
        </p:txBody>
      </p:sp>
      <p:sp>
        <p:nvSpPr>
          <p:cNvPr id="10" name="TextBox 9"/>
          <p:cNvSpPr txBox="1"/>
          <p:nvPr/>
        </p:nvSpPr>
        <p:spPr>
          <a:xfrm>
            <a:off x="914400" y="4343400"/>
            <a:ext cx="10332720" cy="914400"/>
          </a:xfrm>
          <a:prstGeom prst="rect">
            <a:avLst/>
          </a:prstGeom>
          <a:noFill/>
        </p:spPr>
        <p:txBody>
          <a:bodyPr wrap="square" anchor="t">
            <a:spAutoFit/>
          </a:bodyPr>
          <a:lstStyle/>
          <a:p>
            <a:r>
              <a:rPr sz="1400" b="1" i="0">
                <a:solidFill>
                  <a:srgbClr val="E53935"/>
                </a:solidFill>
                <a:latin typeface="Calibri"/>
              </a:rPr>
              <a:t>Presented by:   </a:t>
            </a:r>
            <a:r>
              <a:rPr sz="1400" b="1" i="0">
                <a:solidFill>
                  <a:srgbClr val="FFFFFF"/>
                </a:solidFill>
                <a:latin typeface="Calibri"/>
              </a:rPr>
              <a:t>Ubaid Ullah (179)      M. Saad Awan (215)      Umar Rashid (427)</a:t>
            </a:r>
          </a:p>
        </p:txBody>
      </p:sp>
      <p:sp>
        <p:nvSpPr>
          <p:cNvPr id="11" name="TextBox 10"/>
          <p:cNvSpPr txBox="1"/>
          <p:nvPr/>
        </p:nvSpPr>
        <p:spPr>
          <a:xfrm>
            <a:off x="914400" y="5074920"/>
            <a:ext cx="10332720" cy="1280160"/>
          </a:xfrm>
          <a:prstGeom prst="rect">
            <a:avLst/>
          </a:prstGeom>
          <a:noFill/>
        </p:spPr>
        <p:txBody>
          <a:bodyPr wrap="square" anchor="t">
            <a:spAutoFit/>
          </a:bodyPr>
          <a:lstStyle/>
          <a:p>
            <a:r>
              <a:rPr sz="1300" b="1" i="0">
                <a:solidFill>
                  <a:srgbClr val="555C66"/>
                </a:solidFill>
                <a:latin typeface="Calibri"/>
              </a:rPr>
              <a:t>Supervised by:  </a:t>
            </a:r>
            <a:r>
              <a:rPr sz="1300" b="0" i="0">
                <a:solidFill>
                  <a:srgbClr val="FFFFFF"/>
                </a:solidFill>
                <a:latin typeface="Calibri"/>
              </a:rPr>
              <a:t>Engr. Waseem Ullah Khan  (Lecturer, ICS/IT)</a:t>
            </a:r>
          </a:p>
          <a:p>
            <a:pPr>
              <a:spcBef>
                <a:spcPts val="500"/>
              </a:spcBef>
            </a:pPr>
            <a:r>
              <a:rPr sz="1300" b="0" i="0">
                <a:solidFill>
                  <a:srgbClr val="C9CCD1"/>
                </a:solidFill>
                <a:latin typeface="Calibri"/>
              </a:rPr>
              <a:t>Bachelor of Science in Computer Science   •   Session 2022–2026</a:t>
            </a:r>
          </a:p>
          <a:p>
            <a:pPr>
              <a:spcBef>
                <a:spcPts val="500"/>
              </a:spcBef>
            </a:pPr>
            <a:r>
              <a:rPr sz="1200" b="0" i="0">
                <a:solidFill>
                  <a:srgbClr val="555C66"/>
                </a:solidFill>
                <a:latin typeface="Calibri"/>
              </a:rPr>
              <a:t>Institute of Computer Sciences &amp; IT (ICS/IT)  •  The University of Agriculture, Peshawar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OVERVIEW</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Presentation Agenda</a:t>
            </a:r>
          </a:p>
        </p:txBody>
      </p:sp>
      <p:sp>
        <p:nvSpPr>
          <p:cNvPr id="7" name="TextBox 6"/>
          <p:cNvSpPr txBox="1"/>
          <p:nvPr/>
        </p:nvSpPr>
        <p:spPr>
          <a:xfrm>
            <a:off x="822960" y="2103120"/>
            <a:ext cx="5303520" cy="4297680"/>
          </a:xfrm>
          <a:prstGeom prst="rect">
            <a:avLst/>
          </a:prstGeom>
          <a:noFill/>
        </p:spPr>
        <p:txBody>
          <a:bodyPr wrap="square" anchor="t">
            <a:spAutoFit/>
          </a:bodyPr>
          <a:lstStyle/>
          <a:p>
            <a:pPr>
              <a:spcBef>
                <a:spcPts val="0"/>
              </a:spcBef>
              <a:spcAft>
                <a:spcPts val="1600"/>
              </a:spcAft>
            </a:pPr>
            <a:r>
              <a:rPr sz="1800" b="0" i="0">
                <a:solidFill>
                  <a:srgbClr val="21252B"/>
                </a:solidFill>
                <a:latin typeface="Calibri"/>
              </a:rPr>
              <a:t>•   1.  Problem statement &amp; motivation</a:t>
            </a:r>
          </a:p>
          <a:p>
            <a:pPr>
              <a:spcBef>
                <a:spcPts val="0"/>
              </a:spcBef>
              <a:spcAft>
                <a:spcPts val="1600"/>
              </a:spcAft>
            </a:pPr>
            <a:r>
              <a:rPr sz="1800" b="0" i="0">
                <a:solidFill>
                  <a:srgbClr val="21252B"/>
                </a:solidFill>
                <a:latin typeface="Calibri"/>
              </a:rPr>
              <a:t>•   2.  Existing vs. proposed system</a:t>
            </a:r>
          </a:p>
          <a:p>
            <a:pPr>
              <a:spcBef>
                <a:spcPts val="0"/>
              </a:spcBef>
              <a:spcAft>
                <a:spcPts val="1600"/>
              </a:spcAft>
            </a:pPr>
            <a:r>
              <a:rPr sz="1800" b="0" i="0">
                <a:solidFill>
                  <a:srgbClr val="21252B"/>
                </a:solidFill>
                <a:latin typeface="Calibri"/>
              </a:rPr>
              <a:t>•   3.  Aim, objectives &amp; scope</a:t>
            </a:r>
          </a:p>
          <a:p>
            <a:pPr>
              <a:spcBef>
                <a:spcPts val="0"/>
              </a:spcBef>
              <a:spcAft>
                <a:spcPts val="1600"/>
              </a:spcAft>
            </a:pPr>
            <a:r>
              <a:rPr sz="1800" b="0" i="0">
                <a:solidFill>
                  <a:srgbClr val="21252B"/>
                </a:solidFill>
                <a:latin typeface="Calibri"/>
              </a:rPr>
              <a:t>•   4.  Key features of Life Link</a:t>
            </a:r>
          </a:p>
          <a:p>
            <a:pPr>
              <a:spcBef>
                <a:spcPts val="0"/>
              </a:spcBef>
              <a:spcAft>
                <a:spcPts val="1600"/>
              </a:spcAft>
            </a:pPr>
            <a:r>
              <a:rPr sz="1800" b="0" i="0">
                <a:solidFill>
                  <a:srgbClr val="21252B"/>
                </a:solidFill>
                <a:latin typeface="Calibri"/>
              </a:rPr>
              <a:t>•   5.  Technology stack</a:t>
            </a:r>
          </a:p>
        </p:txBody>
      </p:sp>
      <p:sp>
        <p:nvSpPr>
          <p:cNvPr id="8" name="TextBox 7"/>
          <p:cNvSpPr txBox="1"/>
          <p:nvPr/>
        </p:nvSpPr>
        <p:spPr>
          <a:xfrm>
            <a:off x="6400800" y="2103120"/>
            <a:ext cx="5303520" cy="4297680"/>
          </a:xfrm>
          <a:prstGeom prst="rect">
            <a:avLst/>
          </a:prstGeom>
          <a:noFill/>
        </p:spPr>
        <p:txBody>
          <a:bodyPr wrap="square" anchor="t">
            <a:spAutoFit/>
          </a:bodyPr>
          <a:lstStyle/>
          <a:p>
            <a:pPr>
              <a:spcBef>
                <a:spcPts val="0"/>
              </a:spcBef>
              <a:spcAft>
                <a:spcPts val="1600"/>
              </a:spcAft>
            </a:pPr>
            <a:r>
              <a:rPr sz="1800" b="0" i="0">
                <a:solidFill>
                  <a:srgbClr val="21252B"/>
                </a:solidFill>
                <a:latin typeface="Calibri"/>
              </a:rPr>
              <a:t>•   6.  System architecture &amp; design</a:t>
            </a:r>
          </a:p>
          <a:p>
            <a:pPr>
              <a:spcBef>
                <a:spcPts val="0"/>
              </a:spcBef>
              <a:spcAft>
                <a:spcPts val="1600"/>
              </a:spcAft>
            </a:pPr>
            <a:r>
              <a:rPr sz="1800" b="0" i="0">
                <a:solidFill>
                  <a:srgbClr val="21252B"/>
                </a:solidFill>
                <a:latin typeface="Calibri"/>
              </a:rPr>
              <a:t>•   7.  UML / DFD / ERD diagrams</a:t>
            </a:r>
          </a:p>
          <a:p>
            <a:pPr>
              <a:spcBef>
                <a:spcPts val="0"/>
              </a:spcBef>
              <a:spcAft>
                <a:spcPts val="1600"/>
              </a:spcAft>
            </a:pPr>
            <a:r>
              <a:rPr sz="1800" b="0" i="0">
                <a:solidFill>
                  <a:srgbClr val="21252B"/>
                </a:solidFill>
                <a:latin typeface="Calibri"/>
              </a:rPr>
              <a:t>•   8.  Database &amp; security model</a:t>
            </a:r>
          </a:p>
          <a:p>
            <a:pPr>
              <a:spcBef>
                <a:spcPts val="0"/>
              </a:spcBef>
              <a:spcAft>
                <a:spcPts val="1600"/>
              </a:spcAft>
            </a:pPr>
            <a:r>
              <a:rPr sz="1800" b="0" i="0">
                <a:solidFill>
                  <a:srgbClr val="21252B"/>
                </a:solidFill>
                <a:latin typeface="Calibri"/>
              </a:rPr>
              <a:t>•   9.  Testing &amp; results</a:t>
            </a:r>
          </a:p>
          <a:p>
            <a:pPr>
              <a:spcBef>
                <a:spcPts val="0"/>
              </a:spcBef>
              <a:spcAft>
                <a:spcPts val="1600"/>
              </a:spcAft>
            </a:pPr>
            <a:r>
              <a:rPr sz="1800" b="0" i="0">
                <a:solidFill>
                  <a:srgbClr val="21252B"/>
                </a:solidFill>
                <a:latin typeface="Calibri"/>
              </a:rPr>
              <a:t>•   10.  Challenges, future work &amp; conclusion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MOTIVATION</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Problem Statement</a:t>
            </a:r>
          </a:p>
        </p:txBody>
      </p:sp>
      <p:sp>
        <p:nvSpPr>
          <p:cNvPr id="7" name="TextBox 6"/>
          <p:cNvSpPr txBox="1"/>
          <p:nvPr/>
        </p:nvSpPr>
        <p:spPr>
          <a:xfrm>
            <a:off x="685800" y="1920240"/>
            <a:ext cx="10789920" cy="4480560"/>
          </a:xfrm>
          <a:prstGeom prst="rect">
            <a:avLst/>
          </a:prstGeom>
          <a:noFill/>
        </p:spPr>
        <p:txBody>
          <a:bodyPr wrap="square" anchor="t">
            <a:spAutoFit/>
          </a:bodyPr>
          <a:lstStyle/>
          <a:p>
            <a:pPr>
              <a:spcBef>
                <a:spcPts val="0"/>
              </a:spcBef>
              <a:spcAft>
                <a:spcPts val="1200"/>
              </a:spcAft>
            </a:pPr>
            <a:r>
              <a:rPr sz="1700" b="0" i="0">
                <a:solidFill>
                  <a:srgbClr val="21252B"/>
                </a:solidFill>
                <a:latin typeface="Calibri"/>
              </a:rPr>
              <a:t>•   Every year thousands of patients need urgent blood transfusions, yet finding a matching donor in time is difficult.</a:t>
            </a:r>
          </a:p>
          <a:p>
            <a:pPr>
              <a:spcBef>
                <a:spcPts val="0"/>
              </a:spcBef>
              <a:spcAft>
                <a:spcPts val="1200"/>
              </a:spcAft>
            </a:pPr>
            <a:r>
              <a:rPr sz="1700" b="0" i="0">
                <a:solidFill>
                  <a:srgbClr val="21252B"/>
                </a:solidFill>
                <a:latin typeface="Calibri"/>
              </a:rPr>
              <a:t>•   Blood requests today spread through phone calls, WhatsApp groups and word of mouth — slow, unreliable and limited in reach.</a:t>
            </a:r>
          </a:p>
          <a:p>
            <a:pPr lvl="1">
              <a:spcBef>
                <a:spcPts val="0"/>
              </a:spcBef>
              <a:spcAft>
                <a:spcPts val="1200"/>
              </a:spcAft>
            </a:pPr>
            <a:r>
              <a:rPr sz="1600" b="0" i="0">
                <a:solidFill>
                  <a:srgbClr val="555C66"/>
                </a:solidFill>
                <a:latin typeface="Calibri"/>
              </a:rPr>
              <a:t>–   There is no single platform that instantly connects a patient to nearby, blood-group-matched, willing donors.</a:t>
            </a:r>
          </a:p>
          <a:p>
            <a:pPr lvl="1">
              <a:spcBef>
                <a:spcPts val="0"/>
              </a:spcBef>
              <a:spcAft>
                <a:spcPts val="1200"/>
              </a:spcAft>
            </a:pPr>
            <a:r>
              <a:rPr sz="1600" b="0" i="0">
                <a:solidFill>
                  <a:srgbClr val="555C66"/>
                </a:solidFill>
                <a:latin typeface="Calibri"/>
              </a:rPr>
              <a:t>–   Donors who are willing to help have no easy way to discover requests near them.</a:t>
            </a:r>
          </a:p>
          <a:p>
            <a:pPr>
              <a:spcBef>
                <a:spcPts val="0"/>
              </a:spcBef>
              <a:spcAft>
                <a:spcPts val="1200"/>
              </a:spcAft>
            </a:pPr>
            <a:r>
              <a:rPr sz="1700" b="0" i="0">
                <a:solidFill>
                  <a:srgbClr val="21252B"/>
                </a:solidFill>
                <a:latin typeface="Calibri"/>
              </a:rPr>
              <a:t>•   Emergency contacts — ambulances, blood banks, volunteers — are scattered and hard to reach in a crisis.</a:t>
            </a:r>
          </a:p>
          <a:p>
            <a:pPr>
              <a:spcBef>
                <a:spcPts val="0"/>
              </a:spcBef>
              <a:spcAft>
                <a:spcPts val="1200"/>
              </a:spcAft>
            </a:pPr>
            <a:r>
              <a:rPr sz="1700" b="0" i="0">
                <a:solidFill>
                  <a:srgbClr val="21252B"/>
                </a:solidFill>
                <a:latin typeface="Calibri"/>
              </a:rPr>
              <a:t>•   Result: critical time is lost, and avoidable deaths occur due to delayed blood availability.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CURRENT PROCESS</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Existing System — The Manual Way</a:t>
            </a:r>
          </a:p>
        </p:txBody>
      </p:sp>
      <p:sp>
        <p:nvSpPr>
          <p:cNvPr id="7" name="Rectangle 6"/>
          <p:cNvSpPr/>
          <p:nvPr/>
        </p:nvSpPr>
        <p:spPr>
          <a:xfrm>
            <a:off x="640080" y="1783080"/>
            <a:ext cx="10881360" cy="4160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5_existing_system.png"/>
          <p:cNvPicPr>
            <a:picLocks noChangeAspect="1"/>
          </p:cNvPicPr>
          <p:nvPr/>
        </p:nvPicPr>
        <p:blipFill>
          <a:blip r:embed="rId2"/>
          <a:stretch>
            <a:fillRect/>
          </a:stretch>
        </p:blipFill>
        <p:spPr>
          <a:xfrm>
            <a:off x="2253296" y="1874520"/>
            <a:ext cx="7654927" cy="3977640"/>
          </a:xfrm>
          <a:prstGeom prst="rect">
            <a:avLst/>
          </a:prstGeom>
        </p:spPr>
      </p:pic>
      <p:sp>
        <p:nvSpPr>
          <p:cNvPr id="9" name="TextBox 8"/>
          <p:cNvSpPr txBox="1"/>
          <p:nvPr/>
        </p:nvSpPr>
        <p:spPr>
          <a:xfrm>
            <a:off x="640080" y="6035040"/>
            <a:ext cx="10881360" cy="548640"/>
          </a:xfrm>
          <a:prstGeom prst="rect">
            <a:avLst/>
          </a:prstGeom>
          <a:noFill/>
        </p:spPr>
        <p:txBody>
          <a:bodyPr wrap="square" anchor="t">
            <a:spAutoFit/>
          </a:bodyPr>
          <a:lstStyle/>
          <a:p>
            <a:pPr algn="ctr"/>
            <a:r>
              <a:rPr sz="1300" b="0" i="1">
                <a:solidFill>
                  <a:srgbClr val="555C66"/>
                </a:solidFill>
                <a:latin typeface="Calibri"/>
              </a:rPr>
              <a:t>Figure 1: How blood is sourced today — manual calls, scattered contacts, no matching.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OUR SOLUTION</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Proposed System — Life Link</a:t>
            </a:r>
          </a:p>
        </p:txBody>
      </p:sp>
      <p:sp>
        <p:nvSpPr>
          <p:cNvPr id="7" name="Rectangle 6"/>
          <p:cNvSpPr/>
          <p:nvPr/>
        </p:nvSpPr>
        <p:spPr>
          <a:xfrm>
            <a:off x="640080" y="1783080"/>
            <a:ext cx="10881360" cy="4160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6_proposed_system.png"/>
          <p:cNvPicPr>
            <a:picLocks noChangeAspect="1"/>
          </p:cNvPicPr>
          <p:nvPr/>
        </p:nvPicPr>
        <p:blipFill>
          <a:blip r:embed="rId2"/>
          <a:stretch>
            <a:fillRect/>
          </a:stretch>
        </p:blipFill>
        <p:spPr>
          <a:xfrm>
            <a:off x="731520" y="1929475"/>
            <a:ext cx="10698480" cy="3867730"/>
          </a:xfrm>
          <a:prstGeom prst="rect">
            <a:avLst/>
          </a:prstGeom>
        </p:spPr>
      </p:pic>
      <p:sp>
        <p:nvSpPr>
          <p:cNvPr id="9" name="TextBox 8"/>
          <p:cNvSpPr txBox="1"/>
          <p:nvPr/>
        </p:nvSpPr>
        <p:spPr>
          <a:xfrm>
            <a:off x="640080" y="6035040"/>
            <a:ext cx="10881360" cy="548640"/>
          </a:xfrm>
          <a:prstGeom prst="rect">
            <a:avLst/>
          </a:prstGeom>
          <a:noFill/>
        </p:spPr>
        <p:txBody>
          <a:bodyPr wrap="square" anchor="t">
            <a:spAutoFit/>
          </a:bodyPr>
          <a:lstStyle/>
          <a:p>
            <a:pPr algn="ctr"/>
            <a:r>
              <a:rPr sz="1300" b="0" i="1">
                <a:solidFill>
                  <a:srgbClr val="555C66"/>
                </a:solidFill>
                <a:latin typeface="Calibri"/>
              </a:rPr>
              <a:t>Figure 2: Life Link automates matching, notifies donors instantly, and centralizes services.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GOALS</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Aim &amp; Objectives</a:t>
            </a:r>
          </a:p>
        </p:txBody>
      </p:sp>
      <p:sp>
        <p:nvSpPr>
          <p:cNvPr id="7" name="TextBox 6"/>
          <p:cNvSpPr txBox="1"/>
          <p:nvPr/>
        </p:nvSpPr>
        <p:spPr>
          <a:xfrm>
            <a:off x="685800" y="1828800"/>
            <a:ext cx="10789920" cy="822960"/>
          </a:xfrm>
          <a:prstGeom prst="rect">
            <a:avLst/>
          </a:prstGeom>
          <a:noFill/>
        </p:spPr>
        <p:txBody>
          <a:bodyPr wrap="square" anchor="t">
            <a:spAutoFit/>
          </a:bodyPr>
          <a:lstStyle/>
          <a:p>
            <a:r>
              <a:rPr sz="1800" b="1" i="0">
                <a:solidFill>
                  <a:srgbClr val="C62828"/>
                </a:solidFill>
                <a:latin typeface="Calibri"/>
              </a:rPr>
              <a:t>Aim:  </a:t>
            </a:r>
            <a:r>
              <a:rPr sz="1800" b="0" i="0">
                <a:solidFill>
                  <a:srgbClr val="21252B"/>
                </a:solidFill>
                <a:latin typeface="Calibri"/>
              </a:rPr>
              <a:t>To build a mobile platform that connects blood donors and patients quickly and reliably, reducing the time it takes to find a matching donor in an emergency.</a:t>
            </a:r>
          </a:p>
        </p:txBody>
      </p:sp>
      <p:sp>
        <p:nvSpPr>
          <p:cNvPr id="8" name="TextBox 7"/>
          <p:cNvSpPr txBox="1"/>
          <p:nvPr/>
        </p:nvSpPr>
        <p:spPr>
          <a:xfrm>
            <a:off x="685800" y="2743200"/>
            <a:ext cx="10789920" cy="3657600"/>
          </a:xfrm>
          <a:prstGeom prst="rect">
            <a:avLst/>
          </a:prstGeom>
          <a:noFill/>
        </p:spPr>
        <p:txBody>
          <a:bodyPr wrap="square" anchor="t">
            <a:spAutoFit/>
          </a:bodyPr>
          <a:lstStyle/>
          <a:p>
            <a:pPr>
              <a:spcBef>
                <a:spcPts val="0"/>
              </a:spcBef>
              <a:spcAft>
                <a:spcPts val="900"/>
              </a:spcAft>
            </a:pPr>
            <a:r>
              <a:rPr sz="1600" b="1" i="0">
                <a:solidFill>
                  <a:srgbClr val="21252B"/>
                </a:solidFill>
                <a:latin typeface="Calibri"/>
              </a:rPr>
              <a:t>•   Objectives:</a:t>
            </a:r>
          </a:p>
          <a:p>
            <a:pPr lvl="1">
              <a:spcBef>
                <a:spcPts val="0"/>
              </a:spcBef>
              <a:spcAft>
                <a:spcPts val="900"/>
              </a:spcAft>
            </a:pPr>
            <a:r>
              <a:rPr sz="1500" b="0" i="0">
                <a:solidFill>
                  <a:srgbClr val="555C66"/>
                </a:solidFill>
                <a:latin typeface="Calibri"/>
              </a:rPr>
              <a:t>–   Let users register, build a donor profile and toggle their availability.</a:t>
            </a:r>
          </a:p>
          <a:p>
            <a:pPr lvl="1">
              <a:spcBef>
                <a:spcPts val="0"/>
              </a:spcBef>
              <a:spcAft>
                <a:spcPts val="900"/>
              </a:spcAft>
            </a:pPr>
            <a:r>
              <a:rPr sz="1500" b="0" i="0">
                <a:solidFill>
                  <a:srgbClr val="555C66"/>
                </a:solidFill>
                <a:latin typeface="Calibri"/>
              </a:rPr>
              <a:t>–   Allow patients to post blood requests with blood group, hospital and location.</a:t>
            </a:r>
          </a:p>
          <a:p>
            <a:pPr lvl="1">
              <a:spcBef>
                <a:spcPts val="0"/>
              </a:spcBef>
              <a:spcAft>
                <a:spcPts val="900"/>
              </a:spcAft>
            </a:pPr>
            <a:r>
              <a:rPr sz="1500" b="0" i="0">
                <a:solidFill>
                  <a:srgbClr val="555C66"/>
                </a:solidFill>
                <a:latin typeface="Calibri"/>
              </a:rPr>
              <a:t>–   Automatically match requests to suitable donors and notify them instantly.</a:t>
            </a:r>
          </a:p>
          <a:p>
            <a:pPr lvl="1">
              <a:spcBef>
                <a:spcPts val="0"/>
              </a:spcBef>
              <a:spcAft>
                <a:spcPts val="900"/>
              </a:spcAft>
            </a:pPr>
            <a:r>
              <a:rPr sz="1500" b="0" i="0">
                <a:solidFill>
                  <a:srgbClr val="555C66"/>
                </a:solidFill>
                <a:latin typeface="Calibri"/>
              </a:rPr>
              <a:t>–   Provide search to find donors by blood group and location.</a:t>
            </a:r>
          </a:p>
          <a:p>
            <a:pPr lvl="1">
              <a:spcBef>
                <a:spcPts val="0"/>
              </a:spcBef>
              <a:spcAft>
                <a:spcPts val="900"/>
              </a:spcAft>
            </a:pPr>
            <a:r>
              <a:rPr sz="1500" b="0" i="0">
                <a:solidFill>
                  <a:srgbClr val="555C66"/>
                </a:solidFill>
                <a:latin typeface="Calibri"/>
              </a:rPr>
              <a:t>–   Offer a directory of ambulances, blood banks and volunteers.</a:t>
            </a:r>
          </a:p>
          <a:p>
            <a:pPr lvl="1">
              <a:spcBef>
                <a:spcPts val="0"/>
              </a:spcBef>
              <a:spcAft>
                <a:spcPts val="900"/>
              </a:spcAft>
            </a:pPr>
            <a:r>
              <a:rPr sz="1500" b="0" i="0">
                <a:solidFill>
                  <a:srgbClr val="555C66"/>
                </a:solidFill>
                <a:latin typeface="Calibri"/>
              </a:rPr>
              <a:t>–   Enable real-time, in-app chat between donors and patients.</a:t>
            </a:r>
          </a:p>
          <a:p>
            <a:pPr lvl="1">
              <a:spcBef>
                <a:spcPts val="0"/>
              </a:spcBef>
              <a:spcAft>
                <a:spcPts val="900"/>
              </a:spcAft>
            </a:pPr>
            <a:r>
              <a:rPr sz="1500" b="0" i="0">
                <a:solidFill>
                  <a:srgbClr val="555C66"/>
                </a:solidFill>
                <a:latin typeface="Calibri"/>
              </a:rPr>
              <a:t>–   Secure all data with authentication and access rules.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BOUNDARIES</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Project Scope</a:t>
            </a:r>
          </a:p>
        </p:txBody>
      </p:sp>
      <p:sp>
        <p:nvSpPr>
          <p:cNvPr id="7" name="Rectangle 6"/>
          <p:cNvSpPr/>
          <p:nvPr/>
        </p:nvSpPr>
        <p:spPr>
          <a:xfrm>
            <a:off x="685800" y="1920240"/>
            <a:ext cx="5212080" cy="548640"/>
          </a:xfrm>
          <a:prstGeom prst="rect">
            <a:avLst/>
          </a:prstGeom>
          <a:solidFill>
            <a:srgbClr val="1B5E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20240"/>
            <a:ext cx="5212080" cy="548640"/>
          </a:xfrm>
          <a:prstGeom prst="rect">
            <a:avLst/>
          </a:prstGeom>
          <a:noFill/>
        </p:spPr>
        <p:txBody>
          <a:bodyPr wrap="square" anchor="ctr">
            <a:spAutoFit/>
          </a:bodyPr>
          <a:lstStyle/>
          <a:p>
            <a:pPr algn="ctr"/>
            <a:r>
              <a:rPr sz="1600" b="1" i="0">
                <a:solidFill>
                  <a:srgbClr val="FFFFFF"/>
                </a:solidFill>
                <a:latin typeface="Calibri"/>
              </a:rPr>
              <a:t>IN SCOPE</a:t>
            </a:r>
          </a:p>
        </p:txBody>
      </p:sp>
      <p:sp>
        <p:nvSpPr>
          <p:cNvPr id="9" name="TextBox 8"/>
          <p:cNvSpPr txBox="1"/>
          <p:nvPr/>
        </p:nvSpPr>
        <p:spPr>
          <a:xfrm>
            <a:off x="777240" y="2606040"/>
            <a:ext cx="5029200" cy="3794760"/>
          </a:xfrm>
          <a:prstGeom prst="rect">
            <a:avLst/>
          </a:prstGeom>
          <a:noFill/>
        </p:spPr>
        <p:txBody>
          <a:bodyPr wrap="square" anchor="t">
            <a:spAutoFit/>
          </a:bodyPr>
          <a:lstStyle/>
          <a:p>
            <a:pPr>
              <a:spcBef>
                <a:spcPts val="0"/>
              </a:spcBef>
              <a:spcAft>
                <a:spcPts val="900"/>
              </a:spcAft>
            </a:pPr>
            <a:r>
              <a:rPr sz="1400" b="0" i="0">
                <a:solidFill>
                  <a:srgbClr val="21252B"/>
                </a:solidFill>
                <a:latin typeface="Calibri"/>
              </a:rPr>
              <a:t>•   Mobile app (Android &amp; iOS) built with Flutter</a:t>
            </a:r>
          </a:p>
          <a:p>
            <a:pPr>
              <a:spcBef>
                <a:spcPts val="0"/>
              </a:spcBef>
              <a:spcAft>
                <a:spcPts val="900"/>
              </a:spcAft>
            </a:pPr>
            <a:r>
              <a:rPr sz="1400" b="0" i="0">
                <a:solidFill>
                  <a:srgbClr val="21252B"/>
                </a:solidFill>
                <a:latin typeface="Calibri"/>
              </a:rPr>
              <a:t>•   Donor &amp; patient accounts via Firebase Auth</a:t>
            </a:r>
          </a:p>
          <a:p>
            <a:pPr>
              <a:spcBef>
                <a:spcPts val="0"/>
              </a:spcBef>
              <a:spcAft>
                <a:spcPts val="900"/>
              </a:spcAft>
            </a:pPr>
            <a:r>
              <a:rPr sz="1400" b="0" i="0">
                <a:solidFill>
                  <a:srgbClr val="21252B"/>
                </a:solidFill>
                <a:latin typeface="Calibri"/>
              </a:rPr>
              <a:t>•   Blood request posting + automatic donor matching</a:t>
            </a:r>
          </a:p>
          <a:p>
            <a:pPr>
              <a:spcBef>
                <a:spcPts val="0"/>
              </a:spcBef>
              <a:spcAft>
                <a:spcPts val="900"/>
              </a:spcAft>
            </a:pPr>
            <a:r>
              <a:rPr sz="1400" b="0" i="0">
                <a:solidFill>
                  <a:srgbClr val="21252B"/>
                </a:solidFill>
                <a:latin typeface="Calibri"/>
              </a:rPr>
              <a:t>•   Push notifications for matched requests</a:t>
            </a:r>
          </a:p>
          <a:p>
            <a:pPr>
              <a:spcBef>
                <a:spcPts val="0"/>
              </a:spcBef>
              <a:spcAft>
                <a:spcPts val="900"/>
              </a:spcAft>
            </a:pPr>
            <a:r>
              <a:rPr sz="1400" b="0" i="0">
                <a:solidFill>
                  <a:srgbClr val="21252B"/>
                </a:solidFill>
                <a:latin typeface="Calibri"/>
              </a:rPr>
              <a:t>•   Real-time chat between users</a:t>
            </a:r>
          </a:p>
          <a:p>
            <a:pPr>
              <a:spcBef>
                <a:spcPts val="0"/>
              </a:spcBef>
              <a:spcAft>
                <a:spcPts val="900"/>
              </a:spcAft>
            </a:pPr>
            <a:r>
              <a:rPr sz="1400" b="0" i="0">
                <a:solidFill>
                  <a:srgbClr val="21252B"/>
                </a:solidFill>
                <a:latin typeface="Calibri"/>
              </a:rPr>
              <a:t>•   Emergency services directory</a:t>
            </a:r>
          </a:p>
        </p:txBody>
      </p:sp>
      <p:sp>
        <p:nvSpPr>
          <p:cNvPr id="10" name="Rectangle 9"/>
          <p:cNvSpPr/>
          <p:nvPr/>
        </p:nvSpPr>
        <p:spPr>
          <a:xfrm>
            <a:off x="6309360" y="1920240"/>
            <a:ext cx="5212080" cy="548640"/>
          </a:xfrm>
          <a:prstGeom prst="rect">
            <a:avLst/>
          </a:prstGeom>
          <a:solidFill>
            <a:srgbClr val="555C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920240"/>
            <a:ext cx="5212080" cy="548640"/>
          </a:xfrm>
          <a:prstGeom prst="rect">
            <a:avLst/>
          </a:prstGeom>
          <a:noFill/>
        </p:spPr>
        <p:txBody>
          <a:bodyPr wrap="square" anchor="ctr">
            <a:spAutoFit/>
          </a:bodyPr>
          <a:lstStyle/>
          <a:p>
            <a:pPr algn="ctr"/>
            <a:r>
              <a:rPr sz="1600" b="1" i="0">
                <a:solidFill>
                  <a:srgbClr val="FFFFFF"/>
                </a:solidFill>
                <a:latin typeface="Calibri"/>
              </a:rPr>
              <a:t>OUT OF SCOPE</a:t>
            </a:r>
          </a:p>
        </p:txBody>
      </p:sp>
      <p:sp>
        <p:nvSpPr>
          <p:cNvPr id="12" name="TextBox 11"/>
          <p:cNvSpPr txBox="1"/>
          <p:nvPr/>
        </p:nvSpPr>
        <p:spPr>
          <a:xfrm>
            <a:off x="6400800" y="2606040"/>
            <a:ext cx="5029200" cy="3794760"/>
          </a:xfrm>
          <a:prstGeom prst="rect">
            <a:avLst/>
          </a:prstGeom>
          <a:noFill/>
        </p:spPr>
        <p:txBody>
          <a:bodyPr wrap="square" anchor="t">
            <a:spAutoFit/>
          </a:bodyPr>
          <a:lstStyle/>
          <a:p>
            <a:pPr>
              <a:spcBef>
                <a:spcPts val="0"/>
              </a:spcBef>
              <a:spcAft>
                <a:spcPts val="900"/>
              </a:spcAft>
            </a:pPr>
            <a:r>
              <a:rPr sz="1400" b="0" i="0">
                <a:solidFill>
                  <a:srgbClr val="21252B"/>
                </a:solidFill>
                <a:latin typeface="Calibri"/>
              </a:rPr>
              <a:t>•   Online payments / monetary transactions</a:t>
            </a:r>
          </a:p>
          <a:p>
            <a:pPr>
              <a:spcBef>
                <a:spcPts val="0"/>
              </a:spcBef>
              <a:spcAft>
                <a:spcPts val="900"/>
              </a:spcAft>
            </a:pPr>
            <a:r>
              <a:rPr sz="1400" b="0" i="0">
                <a:solidFill>
                  <a:srgbClr val="21252B"/>
                </a:solidFill>
                <a:latin typeface="Calibri"/>
              </a:rPr>
              <a:t>•   Medical verification of blood compatibility by labs</a:t>
            </a:r>
          </a:p>
          <a:p>
            <a:pPr>
              <a:spcBef>
                <a:spcPts val="0"/>
              </a:spcBef>
              <a:spcAft>
                <a:spcPts val="900"/>
              </a:spcAft>
            </a:pPr>
            <a:r>
              <a:rPr sz="1400" b="0" i="0">
                <a:solidFill>
                  <a:srgbClr val="21252B"/>
                </a:solidFill>
                <a:latin typeface="Calibri"/>
              </a:rPr>
              <a:t>•   GPS turn-by-turn navigation to hospitals</a:t>
            </a:r>
          </a:p>
          <a:p>
            <a:pPr>
              <a:spcBef>
                <a:spcPts val="0"/>
              </a:spcBef>
              <a:spcAft>
                <a:spcPts val="900"/>
              </a:spcAft>
            </a:pPr>
            <a:r>
              <a:rPr sz="1400" b="0" i="0">
                <a:solidFill>
                  <a:srgbClr val="21252B"/>
                </a:solidFill>
                <a:latin typeface="Calibri"/>
              </a:rPr>
              <a:t>•   Integration with government blood-bank databases</a:t>
            </a:r>
          </a:p>
          <a:p>
            <a:pPr>
              <a:spcBef>
                <a:spcPts val="0"/>
              </a:spcBef>
              <a:spcAft>
                <a:spcPts val="900"/>
              </a:spcAft>
            </a:pPr>
            <a:r>
              <a:rPr sz="1400" b="0" i="0">
                <a:solidFill>
                  <a:srgbClr val="21252B"/>
                </a:solidFill>
                <a:latin typeface="Calibri"/>
              </a:rPr>
              <a:t>•   Web/desktop version (mobile-first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PRODUCT</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Key Features at a Glance</a:t>
            </a:r>
          </a:p>
        </p:txBody>
      </p:sp>
      <p:sp>
        <p:nvSpPr>
          <p:cNvPr id="7" name="Rectangle 6"/>
          <p:cNvSpPr/>
          <p:nvPr/>
        </p:nvSpPr>
        <p:spPr>
          <a:xfrm>
            <a:off x="685800" y="1965960"/>
            <a:ext cx="3520440" cy="12344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85800" y="1965960"/>
            <a:ext cx="91440" cy="1234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093976"/>
            <a:ext cx="3200400" cy="411480"/>
          </a:xfrm>
          <a:prstGeom prst="rect">
            <a:avLst/>
          </a:prstGeom>
          <a:noFill/>
        </p:spPr>
        <p:txBody>
          <a:bodyPr wrap="square" anchor="t">
            <a:spAutoFit/>
          </a:bodyPr>
          <a:lstStyle/>
          <a:p>
            <a:r>
              <a:rPr sz="1500" b="1" i="0">
                <a:solidFill>
                  <a:srgbClr val="C62828"/>
                </a:solidFill>
                <a:latin typeface="Calibri"/>
              </a:rPr>
              <a:t>Donor Profiles</a:t>
            </a:r>
          </a:p>
        </p:txBody>
      </p:sp>
      <p:sp>
        <p:nvSpPr>
          <p:cNvPr id="10" name="TextBox 9"/>
          <p:cNvSpPr txBox="1"/>
          <p:nvPr/>
        </p:nvSpPr>
        <p:spPr>
          <a:xfrm>
            <a:off x="914400" y="2514600"/>
            <a:ext cx="3200400" cy="594360"/>
          </a:xfrm>
          <a:prstGeom prst="rect">
            <a:avLst/>
          </a:prstGeom>
          <a:noFill/>
        </p:spPr>
        <p:txBody>
          <a:bodyPr wrap="square" anchor="t">
            <a:spAutoFit/>
          </a:bodyPr>
          <a:lstStyle/>
          <a:p>
            <a:r>
              <a:rPr sz="1200" b="0" i="0">
                <a:solidFill>
                  <a:srgbClr val="555C66"/>
                </a:solidFill>
                <a:latin typeface="Calibri"/>
              </a:rPr>
              <a:t>Register, set blood group &amp; toggle availability</a:t>
            </a:r>
          </a:p>
        </p:txBody>
      </p:sp>
      <p:sp>
        <p:nvSpPr>
          <p:cNvPr id="11" name="Rectangle 10"/>
          <p:cNvSpPr/>
          <p:nvPr/>
        </p:nvSpPr>
        <p:spPr>
          <a:xfrm>
            <a:off x="4389120" y="1965960"/>
            <a:ext cx="3520440" cy="12344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965960"/>
            <a:ext cx="91440" cy="1234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2093976"/>
            <a:ext cx="3200400" cy="411480"/>
          </a:xfrm>
          <a:prstGeom prst="rect">
            <a:avLst/>
          </a:prstGeom>
          <a:noFill/>
        </p:spPr>
        <p:txBody>
          <a:bodyPr wrap="square" anchor="t">
            <a:spAutoFit/>
          </a:bodyPr>
          <a:lstStyle/>
          <a:p>
            <a:r>
              <a:rPr sz="1500" b="1" i="0">
                <a:solidFill>
                  <a:srgbClr val="C62828"/>
                </a:solidFill>
                <a:latin typeface="Calibri"/>
              </a:rPr>
              <a:t>Blood Requests</a:t>
            </a:r>
          </a:p>
        </p:txBody>
      </p:sp>
      <p:sp>
        <p:nvSpPr>
          <p:cNvPr id="14" name="TextBox 13"/>
          <p:cNvSpPr txBox="1"/>
          <p:nvPr/>
        </p:nvSpPr>
        <p:spPr>
          <a:xfrm>
            <a:off x="4617720" y="2514600"/>
            <a:ext cx="3200400" cy="594360"/>
          </a:xfrm>
          <a:prstGeom prst="rect">
            <a:avLst/>
          </a:prstGeom>
          <a:noFill/>
        </p:spPr>
        <p:txBody>
          <a:bodyPr wrap="square" anchor="t">
            <a:spAutoFit/>
          </a:bodyPr>
          <a:lstStyle/>
          <a:p>
            <a:r>
              <a:rPr sz="1200" b="0" i="0">
                <a:solidFill>
                  <a:srgbClr val="555C66"/>
                </a:solidFill>
                <a:latin typeface="Calibri"/>
              </a:rPr>
              <a:t>Post urgent needs with hospital &amp; location</a:t>
            </a:r>
          </a:p>
        </p:txBody>
      </p:sp>
      <p:sp>
        <p:nvSpPr>
          <p:cNvPr id="15" name="Rectangle 14"/>
          <p:cNvSpPr/>
          <p:nvPr/>
        </p:nvSpPr>
        <p:spPr>
          <a:xfrm>
            <a:off x="8092440" y="1965960"/>
            <a:ext cx="3520440" cy="12344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92440" y="1965960"/>
            <a:ext cx="91440" cy="1234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0" y="2093976"/>
            <a:ext cx="3200400" cy="411480"/>
          </a:xfrm>
          <a:prstGeom prst="rect">
            <a:avLst/>
          </a:prstGeom>
          <a:noFill/>
        </p:spPr>
        <p:txBody>
          <a:bodyPr wrap="square" anchor="t">
            <a:spAutoFit/>
          </a:bodyPr>
          <a:lstStyle/>
          <a:p>
            <a:r>
              <a:rPr sz="1500" b="1" i="0">
                <a:solidFill>
                  <a:srgbClr val="C62828"/>
                </a:solidFill>
                <a:latin typeface="Calibri"/>
              </a:rPr>
              <a:t>Smart Matching</a:t>
            </a:r>
          </a:p>
        </p:txBody>
      </p:sp>
      <p:sp>
        <p:nvSpPr>
          <p:cNvPr id="18" name="TextBox 17"/>
          <p:cNvSpPr txBox="1"/>
          <p:nvPr/>
        </p:nvSpPr>
        <p:spPr>
          <a:xfrm>
            <a:off x="8321040" y="2514600"/>
            <a:ext cx="3200400" cy="594360"/>
          </a:xfrm>
          <a:prstGeom prst="rect">
            <a:avLst/>
          </a:prstGeom>
          <a:noFill/>
        </p:spPr>
        <p:txBody>
          <a:bodyPr wrap="square" anchor="t">
            <a:spAutoFit/>
          </a:bodyPr>
          <a:lstStyle/>
          <a:p>
            <a:r>
              <a:rPr sz="1200" b="0" i="0">
                <a:solidFill>
                  <a:srgbClr val="555C66"/>
                </a:solidFill>
                <a:latin typeface="Calibri"/>
              </a:rPr>
              <a:t>Auto-match by blood group + city</a:t>
            </a:r>
          </a:p>
        </p:txBody>
      </p:sp>
      <p:sp>
        <p:nvSpPr>
          <p:cNvPr id="19" name="Rectangle 18"/>
          <p:cNvSpPr/>
          <p:nvPr/>
        </p:nvSpPr>
        <p:spPr>
          <a:xfrm>
            <a:off x="685800" y="3364992"/>
            <a:ext cx="3520440" cy="12344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85800" y="3364992"/>
            <a:ext cx="91440" cy="1234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4400" y="3493008"/>
            <a:ext cx="3200400" cy="411480"/>
          </a:xfrm>
          <a:prstGeom prst="rect">
            <a:avLst/>
          </a:prstGeom>
          <a:noFill/>
        </p:spPr>
        <p:txBody>
          <a:bodyPr wrap="square" anchor="t">
            <a:spAutoFit/>
          </a:bodyPr>
          <a:lstStyle/>
          <a:p>
            <a:r>
              <a:rPr sz="1500" b="1" i="0">
                <a:solidFill>
                  <a:srgbClr val="C62828"/>
                </a:solidFill>
                <a:latin typeface="Calibri"/>
              </a:rPr>
              <a:t>Find Donors</a:t>
            </a:r>
          </a:p>
        </p:txBody>
      </p:sp>
      <p:sp>
        <p:nvSpPr>
          <p:cNvPr id="22" name="TextBox 21"/>
          <p:cNvSpPr txBox="1"/>
          <p:nvPr/>
        </p:nvSpPr>
        <p:spPr>
          <a:xfrm>
            <a:off x="914400" y="3913632"/>
            <a:ext cx="3200400" cy="594360"/>
          </a:xfrm>
          <a:prstGeom prst="rect">
            <a:avLst/>
          </a:prstGeom>
          <a:noFill/>
        </p:spPr>
        <p:txBody>
          <a:bodyPr wrap="square" anchor="t">
            <a:spAutoFit/>
          </a:bodyPr>
          <a:lstStyle/>
          <a:p>
            <a:r>
              <a:rPr sz="1200" b="0" i="0">
                <a:solidFill>
                  <a:srgbClr val="555C66"/>
                </a:solidFill>
                <a:latin typeface="Calibri"/>
              </a:rPr>
              <a:t>Search &amp; filter willing donors nearby</a:t>
            </a:r>
          </a:p>
        </p:txBody>
      </p:sp>
      <p:sp>
        <p:nvSpPr>
          <p:cNvPr id="23" name="Rectangle 22"/>
          <p:cNvSpPr/>
          <p:nvPr/>
        </p:nvSpPr>
        <p:spPr>
          <a:xfrm>
            <a:off x="4389120" y="3364992"/>
            <a:ext cx="3520440" cy="12344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389120" y="3364992"/>
            <a:ext cx="91440" cy="1234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17720" y="3493008"/>
            <a:ext cx="3200400" cy="411480"/>
          </a:xfrm>
          <a:prstGeom prst="rect">
            <a:avLst/>
          </a:prstGeom>
          <a:noFill/>
        </p:spPr>
        <p:txBody>
          <a:bodyPr wrap="square" anchor="t">
            <a:spAutoFit/>
          </a:bodyPr>
          <a:lstStyle/>
          <a:p>
            <a:r>
              <a:rPr sz="1500" b="1" i="0">
                <a:solidFill>
                  <a:srgbClr val="C62828"/>
                </a:solidFill>
                <a:latin typeface="Calibri"/>
              </a:rPr>
              <a:t>Real-time Chat</a:t>
            </a:r>
          </a:p>
        </p:txBody>
      </p:sp>
      <p:sp>
        <p:nvSpPr>
          <p:cNvPr id="26" name="TextBox 25"/>
          <p:cNvSpPr txBox="1"/>
          <p:nvPr/>
        </p:nvSpPr>
        <p:spPr>
          <a:xfrm>
            <a:off x="4617720" y="3913632"/>
            <a:ext cx="3200400" cy="594360"/>
          </a:xfrm>
          <a:prstGeom prst="rect">
            <a:avLst/>
          </a:prstGeom>
          <a:noFill/>
        </p:spPr>
        <p:txBody>
          <a:bodyPr wrap="square" anchor="t">
            <a:spAutoFit/>
          </a:bodyPr>
          <a:lstStyle/>
          <a:p>
            <a:r>
              <a:rPr sz="1200" b="0" i="0">
                <a:solidFill>
                  <a:srgbClr val="555C66"/>
                </a:solidFill>
                <a:latin typeface="Calibri"/>
              </a:rPr>
              <a:t>Message donors with read receipts</a:t>
            </a:r>
          </a:p>
        </p:txBody>
      </p:sp>
      <p:sp>
        <p:nvSpPr>
          <p:cNvPr id="27" name="Rectangle 26"/>
          <p:cNvSpPr/>
          <p:nvPr/>
        </p:nvSpPr>
        <p:spPr>
          <a:xfrm>
            <a:off x="8092440" y="3364992"/>
            <a:ext cx="3520440" cy="12344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092440" y="3364992"/>
            <a:ext cx="91440" cy="1234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21040" y="3493008"/>
            <a:ext cx="3200400" cy="411480"/>
          </a:xfrm>
          <a:prstGeom prst="rect">
            <a:avLst/>
          </a:prstGeom>
          <a:noFill/>
        </p:spPr>
        <p:txBody>
          <a:bodyPr wrap="square" anchor="t">
            <a:spAutoFit/>
          </a:bodyPr>
          <a:lstStyle/>
          <a:p>
            <a:r>
              <a:rPr sz="1500" b="1" i="0">
                <a:solidFill>
                  <a:srgbClr val="C62828"/>
                </a:solidFill>
                <a:latin typeface="Calibri"/>
              </a:rPr>
              <a:t>Push Alerts</a:t>
            </a:r>
          </a:p>
        </p:txBody>
      </p:sp>
      <p:sp>
        <p:nvSpPr>
          <p:cNvPr id="30" name="TextBox 29"/>
          <p:cNvSpPr txBox="1"/>
          <p:nvPr/>
        </p:nvSpPr>
        <p:spPr>
          <a:xfrm>
            <a:off x="8321040" y="3913632"/>
            <a:ext cx="3200400" cy="594360"/>
          </a:xfrm>
          <a:prstGeom prst="rect">
            <a:avLst/>
          </a:prstGeom>
          <a:noFill/>
        </p:spPr>
        <p:txBody>
          <a:bodyPr wrap="square" anchor="t">
            <a:spAutoFit/>
          </a:bodyPr>
          <a:lstStyle/>
          <a:p>
            <a:r>
              <a:rPr sz="1200" b="0" i="0">
                <a:solidFill>
                  <a:srgbClr val="555C66"/>
                </a:solidFill>
                <a:latin typeface="Calibri"/>
              </a:rPr>
              <a:t>Instant notifications to matched donors</a:t>
            </a:r>
          </a:p>
        </p:txBody>
      </p:sp>
      <p:sp>
        <p:nvSpPr>
          <p:cNvPr id="31" name="Rectangle 30"/>
          <p:cNvSpPr/>
          <p:nvPr/>
        </p:nvSpPr>
        <p:spPr>
          <a:xfrm>
            <a:off x="685800" y="4764024"/>
            <a:ext cx="3520440" cy="12344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85800" y="4764024"/>
            <a:ext cx="91440" cy="1234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14400" y="4892040"/>
            <a:ext cx="3200400" cy="411480"/>
          </a:xfrm>
          <a:prstGeom prst="rect">
            <a:avLst/>
          </a:prstGeom>
          <a:noFill/>
        </p:spPr>
        <p:txBody>
          <a:bodyPr wrap="square" anchor="t">
            <a:spAutoFit/>
          </a:bodyPr>
          <a:lstStyle/>
          <a:p>
            <a:r>
              <a:rPr sz="1500" b="1" i="0">
                <a:solidFill>
                  <a:srgbClr val="C62828"/>
                </a:solidFill>
                <a:latin typeface="Calibri"/>
              </a:rPr>
              <a:t>Ambulances</a:t>
            </a:r>
          </a:p>
        </p:txBody>
      </p:sp>
      <p:sp>
        <p:nvSpPr>
          <p:cNvPr id="34" name="TextBox 33"/>
          <p:cNvSpPr txBox="1"/>
          <p:nvPr/>
        </p:nvSpPr>
        <p:spPr>
          <a:xfrm>
            <a:off x="914400" y="5312664"/>
            <a:ext cx="3200400" cy="594360"/>
          </a:xfrm>
          <a:prstGeom prst="rect">
            <a:avLst/>
          </a:prstGeom>
          <a:noFill/>
        </p:spPr>
        <p:txBody>
          <a:bodyPr wrap="square" anchor="t">
            <a:spAutoFit/>
          </a:bodyPr>
          <a:lstStyle/>
          <a:p>
            <a:r>
              <a:rPr sz="1200" b="0" i="0">
                <a:solidFill>
                  <a:srgbClr val="555C66"/>
                </a:solidFill>
                <a:latin typeface="Calibri"/>
              </a:rPr>
              <a:t>Directory of emergency ambulance services</a:t>
            </a:r>
          </a:p>
        </p:txBody>
      </p:sp>
      <p:sp>
        <p:nvSpPr>
          <p:cNvPr id="35" name="Rectangle 34"/>
          <p:cNvSpPr/>
          <p:nvPr/>
        </p:nvSpPr>
        <p:spPr>
          <a:xfrm>
            <a:off x="4389120" y="4764024"/>
            <a:ext cx="3520440" cy="12344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389120" y="4764024"/>
            <a:ext cx="91440" cy="1234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17720" y="4892040"/>
            <a:ext cx="3200400" cy="411480"/>
          </a:xfrm>
          <a:prstGeom prst="rect">
            <a:avLst/>
          </a:prstGeom>
          <a:noFill/>
        </p:spPr>
        <p:txBody>
          <a:bodyPr wrap="square" anchor="t">
            <a:spAutoFit/>
          </a:bodyPr>
          <a:lstStyle/>
          <a:p>
            <a:r>
              <a:rPr sz="1500" b="1" i="0">
                <a:solidFill>
                  <a:srgbClr val="C62828"/>
                </a:solidFill>
                <a:latin typeface="Calibri"/>
              </a:rPr>
              <a:t>Organizations</a:t>
            </a:r>
          </a:p>
        </p:txBody>
      </p:sp>
      <p:sp>
        <p:nvSpPr>
          <p:cNvPr id="38" name="TextBox 37"/>
          <p:cNvSpPr txBox="1"/>
          <p:nvPr/>
        </p:nvSpPr>
        <p:spPr>
          <a:xfrm>
            <a:off x="4617720" y="5312664"/>
            <a:ext cx="3200400" cy="594360"/>
          </a:xfrm>
          <a:prstGeom prst="rect">
            <a:avLst/>
          </a:prstGeom>
          <a:noFill/>
        </p:spPr>
        <p:txBody>
          <a:bodyPr wrap="square" anchor="t">
            <a:spAutoFit/>
          </a:bodyPr>
          <a:lstStyle/>
          <a:p>
            <a:r>
              <a:rPr sz="1200" b="0" i="0">
                <a:solidFill>
                  <a:srgbClr val="555C66"/>
                </a:solidFill>
                <a:latin typeface="Calibri"/>
              </a:rPr>
              <a:t>Blood banks &amp; partner NGOs</a:t>
            </a:r>
          </a:p>
        </p:txBody>
      </p:sp>
      <p:sp>
        <p:nvSpPr>
          <p:cNvPr id="39" name="Rectangle 38"/>
          <p:cNvSpPr/>
          <p:nvPr/>
        </p:nvSpPr>
        <p:spPr>
          <a:xfrm>
            <a:off x="8092440" y="4764024"/>
            <a:ext cx="3520440" cy="123444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8092440" y="4764024"/>
            <a:ext cx="91440" cy="123444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321040" y="4892040"/>
            <a:ext cx="3200400" cy="411480"/>
          </a:xfrm>
          <a:prstGeom prst="rect">
            <a:avLst/>
          </a:prstGeom>
          <a:noFill/>
        </p:spPr>
        <p:txBody>
          <a:bodyPr wrap="square" anchor="t">
            <a:spAutoFit/>
          </a:bodyPr>
          <a:lstStyle/>
          <a:p>
            <a:r>
              <a:rPr sz="1500" b="1" i="0">
                <a:solidFill>
                  <a:srgbClr val="C62828"/>
                </a:solidFill>
                <a:latin typeface="Calibri"/>
              </a:rPr>
              <a:t>Volunteers</a:t>
            </a:r>
          </a:p>
        </p:txBody>
      </p:sp>
      <p:sp>
        <p:nvSpPr>
          <p:cNvPr id="42" name="TextBox 41"/>
          <p:cNvSpPr txBox="1"/>
          <p:nvPr/>
        </p:nvSpPr>
        <p:spPr>
          <a:xfrm>
            <a:off x="8321040" y="5312664"/>
            <a:ext cx="3200400" cy="594360"/>
          </a:xfrm>
          <a:prstGeom prst="rect">
            <a:avLst/>
          </a:prstGeom>
          <a:noFill/>
        </p:spPr>
        <p:txBody>
          <a:bodyPr wrap="square" anchor="t">
            <a:spAutoFit/>
          </a:bodyPr>
          <a:lstStyle/>
          <a:p>
            <a:r>
              <a:rPr sz="1200" b="0" i="0">
                <a:solidFill>
                  <a:srgbClr val="555C66"/>
                </a:solidFill>
                <a:latin typeface="Calibri"/>
              </a:rPr>
              <a:t>Community volunteer directory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CORE FEATURE</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Blood Requests &amp; Smart Matching</a:t>
            </a:r>
          </a:p>
        </p:txBody>
      </p:sp>
      <p:sp>
        <p:nvSpPr>
          <p:cNvPr id="7" name="TextBox 6"/>
          <p:cNvSpPr txBox="1"/>
          <p:nvPr/>
        </p:nvSpPr>
        <p:spPr>
          <a:xfrm>
            <a:off x="685800" y="1874519"/>
            <a:ext cx="10789920" cy="4526281"/>
          </a:xfrm>
          <a:prstGeom prst="rect">
            <a:avLst/>
          </a:prstGeom>
          <a:noFill/>
        </p:spPr>
        <p:txBody>
          <a:bodyPr wrap="square" anchor="t">
            <a:spAutoFit/>
          </a:bodyPr>
          <a:lstStyle/>
          <a:p>
            <a:pPr>
              <a:spcBef>
                <a:spcPts val="0"/>
              </a:spcBef>
              <a:spcAft>
                <a:spcPts val="1100"/>
              </a:spcAft>
            </a:pPr>
            <a:r>
              <a:rPr sz="1600" b="0" i="0">
                <a:solidFill>
                  <a:srgbClr val="21252B"/>
                </a:solidFill>
                <a:latin typeface="Calibri"/>
              </a:rPr>
              <a:t>•   A patient posts a request: blood group, number of bags, hospital, reason, contact and location.</a:t>
            </a:r>
          </a:p>
          <a:p>
            <a:pPr>
              <a:spcBef>
                <a:spcPts val="0"/>
              </a:spcBef>
              <a:spcAft>
                <a:spcPts val="1100"/>
              </a:spcAft>
            </a:pPr>
            <a:r>
              <a:rPr sz="1600" b="0" i="0">
                <a:solidFill>
                  <a:srgbClr val="21252B"/>
                </a:solidFill>
                <a:latin typeface="Calibri"/>
              </a:rPr>
              <a:t>•   On creation, a Firebase Cloud Function fires automatically — no manual work.</a:t>
            </a:r>
          </a:p>
          <a:p>
            <a:pPr lvl="1">
              <a:spcBef>
                <a:spcPts val="0"/>
              </a:spcBef>
              <a:spcAft>
                <a:spcPts val="1100"/>
              </a:spcAft>
            </a:pPr>
            <a:r>
              <a:rPr sz="1500" b="0" i="0">
                <a:solidFill>
                  <a:srgbClr val="555C66"/>
                </a:solidFill>
                <a:latin typeface="Calibri"/>
              </a:rPr>
              <a:t>–   It queries all users, keeps only those whose blood group AND city match the request.</a:t>
            </a:r>
          </a:p>
          <a:p>
            <a:pPr lvl="1">
              <a:spcBef>
                <a:spcPts val="0"/>
              </a:spcBef>
              <a:spcAft>
                <a:spcPts val="1100"/>
              </a:spcAft>
            </a:pPr>
            <a:r>
              <a:rPr sz="1500" b="0" i="0">
                <a:solidFill>
                  <a:srgbClr val="555C66"/>
                </a:solidFill>
                <a:latin typeface="Calibri"/>
              </a:rPr>
              <a:t>–   Matching is case-insensitive and excludes the request creator.</a:t>
            </a:r>
          </a:p>
          <a:p>
            <a:pPr lvl="1">
              <a:spcBef>
                <a:spcPts val="0"/>
              </a:spcBef>
              <a:spcAft>
                <a:spcPts val="1100"/>
              </a:spcAft>
            </a:pPr>
            <a:r>
              <a:rPr sz="1500" b="0" i="0">
                <a:solidFill>
                  <a:srgbClr val="555C66"/>
                </a:solidFill>
                <a:latin typeface="Calibri"/>
              </a:rPr>
              <a:t>–   Matched donors receive an instant push notification via Firebase Cloud Messaging.</a:t>
            </a:r>
          </a:p>
          <a:p>
            <a:pPr>
              <a:spcBef>
                <a:spcPts val="0"/>
              </a:spcBef>
              <a:spcAft>
                <a:spcPts val="1100"/>
              </a:spcAft>
            </a:pPr>
            <a:r>
              <a:rPr sz="1600" b="0" i="0">
                <a:solidFill>
                  <a:srgbClr val="21252B"/>
                </a:solidFill>
                <a:latin typeface="Calibri"/>
              </a:rPr>
              <a:t>•   Requests carry a status (open/closed) and an expiry date, so stale requests disappear.</a:t>
            </a:r>
          </a:p>
          <a:p>
            <a:pPr>
              <a:spcBef>
                <a:spcPts val="0"/>
              </a:spcBef>
              <a:spcAft>
                <a:spcPts val="1100"/>
              </a:spcAft>
            </a:pPr>
            <a:r>
              <a:rPr sz="1600" b="0" i="0">
                <a:solidFill>
                  <a:srgbClr val="21252B"/>
                </a:solidFill>
                <a:latin typeface="Calibri"/>
              </a:rPr>
              <a:t>•   This turns a slow manual phone-tree into an instant, targeted broadcast.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CORE FEATURES</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Donors, Chat &amp; Emergency Directory</a:t>
            </a:r>
          </a:p>
        </p:txBody>
      </p:sp>
      <p:sp>
        <p:nvSpPr>
          <p:cNvPr id="7" name="TextBox 6"/>
          <p:cNvSpPr txBox="1"/>
          <p:nvPr/>
        </p:nvSpPr>
        <p:spPr>
          <a:xfrm>
            <a:off x="685800" y="1874519"/>
            <a:ext cx="10789920" cy="4526281"/>
          </a:xfrm>
          <a:prstGeom prst="rect">
            <a:avLst/>
          </a:prstGeom>
          <a:noFill/>
        </p:spPr>
        <p:txBody>
          <a:bodyPr wrap="square" anchor="t">
            <a:spAutoFit/>
          </a:bodyPr>
          <a:lstStyle/>
          <a:p>
            <a:pPr>
              <a:spcBef>
                <a:spcPts val="0"/>
              </a:spcBef>
              <a:spcAft>
                <a:spcPts val="1000"/>
              </a:spcAft>
            </a:pPr>
            <a:r>
              <a:rPr sz="1600" b="0" i="0">
                <a:solidFill>
                  <a:srgbClr val="21252B"/>
                </a:solidFill>
                <a:latin typeface="Calibri"/>
              </a:rPr>
              <a:t>•   Be a Donor: toggle availability; turning it on notifies the community that a new donor is available.</a:t>
            </a:r>
          </a:p>
          <a:p>
            <a:pPr>
              <a:spcBef>
                <a:spcPts val="0"/>
              </a:spcBef>
              <a:spcAft>
                <a:spcPts val="1000"/>
              </a:spcAft>
            </a:pPr>
            <a:r>
              <a:rPr sz="1600" b="0" i="0">
                <a:solidFill>
                  <a:srgbClr val="21252B"/>
                </a:solidFill>
                <a:latin typeface="Calibri"/>
              </a:rPr>
              <a:t>•   Find Donors: search and filter the donor list by blood group and location.</a:t>
            </a:r>
          </a:p>
          <a:p>
            <a:pPr>
              <a:spcBef>
                <a:spcPts val="0"/>
              </a:spcBef>
              <a:spcAft>
                <a:spcPts val="1000"/>
              </a:spcAft>
            </a:pPr>
            <a:r>
              <a:rPr sz="1600" b="0" i="0">
                <a:solidFill>
                  <a:srgbClr val="21252B"/>
                </a:solidFill>
                <a:latin typeface="Calibri"/>
              </a:rPr>
              <a:t>•   Real-time Chat: one-to-one messaging built on Firestore streams.</a:t>
            </a:r>
          </a:p>
          <a:p>
            <a:pPr lvl="1">
              <a:spcBef>
                <a:spcPts val="0"/>
              </a:spcBef>
              <a:spcAft>
                <a:spcPts val="1000"/>
              </a:spcAft>
            </a:pPr>
            <a:r>
              <a:rPr sz="1500" b="0" i="0">
                <a:solidFill>
                  <a:srgbClr val="555C66"/>
                </a:solidFill>
                <a:latin typeface="Calibri"/>
              </a:rPr>
              <a:t>–   Unread counts, read receipts and last-message previews — like a modern chat app.</a:t>
            </a:r>
          </a:p>
          <a:p>
            <a:pPr>
              <a:spcBef>
                <a:spcPts val="0"/>
              </a:spcBef>
              <a:spcAft>
                <a:spcPts val="1000"/>
              </a:spcAft>
            </a:pPr>
            <a:r>
              <a:rPr sz="1600" b="1" i="0">
                <a:solidFill>
                  <a:srgbClr val="21252B"/>
                </a:solidFill>
                <a:latin typeface="Calibri"/>
              </a:rPr>
              <a:t>•   Emergency Directory — three curated lists for a crisis:</a:t>
            </a:r>
          </a:p>
          <a:p>
            <a:pPr lvl="1">
              <a:spcBef>
                <a:spcPts val="0"/>
              </a:spcBef>
              <a:spcAft>
                <a:spcPts val="1000"/>
              </a:spcAft>
            </a:pPr>
            <a:r>
              <a:rPr sz="1500" b="0" i="0">
                <a:solidFill>
                  <a:srgbClr val="555C66"/>
                </a:solidFill>
                <a:latin typeface="Calibri"/>
              </a:rPr>
              <a:t>–   Ambulances — name, hospital, address and one-tap call.</a:t>
            </a:r>
          </a:p>
          <a:p>
            <a:pPr lvl="1">
              <a:spcBef>
                <a:spcPts val="0"/>
              </a:spcBef>
              <a:spcAft>
                <a:spcPts val="1000"/>
              </a:spcAft>
            </a:pPr>
            <a:r>
              <a:rPr sz="1500" b="0" i="0">
                <a:solidFill>
                  <a:srgbClr val="555C66"/>
                </a:solidFill>
                <a:latin typeface="Calibri"/>
              </a:rPr>
              <a:t>–   Organizations — blood banks and partner NGOs.</a:t>
            </a:r>
          </a:p>
          <a:p>
            <a:pPr lvl="1">
              <a:spcBef>
                <a:spcPts val="0"/>
              </a:spcBef>
              <a:spcAft>
                <a:spcPts val="1000"/>
              </a:spcAft>
            </a:pPr>
            <a:r>
              <a:rPr sz="1500" b="0" i="0">
                <a:solidFill>
                  <a:srgbClr val="555C66"/>
                </a:solidFill>
                <a:latin typeface="Calibri"/>
              </a:rPr>
              <a:t>–   Volunteers — community helpers with their work description.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ENGINEERING</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Technology Stack</a:t>
            </a:r>
          </a:p>
        </p:txBody>
      </p:sp>
      <p:sp>
        <p:nvSpPr>
          <p:cNvPr id="7" name="Rectangle 6"/>
          <p:cNvSpPr/>
          <p:nvPr/>
        </p:nvSpPr>
        <p:spPr>
          <a:xfrm>
            <a:off x="685800" y="1965960"/>
            <a:ext cx="3611880" cy="5669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965960"/>
            <a:ext cx="3611880" cy="566928"/>
          </a:xfrm>
          <a:prstGeom prst="rect">
            <a:avLst/>
          </a:prstGeom>
          <a:noFill/>
        </p:spPr>
        <p:txBody>
          <a:bodyPr wrap="square" anchor="ctr">
            <a:spAutoFit/>
          </a:bodyPr>
          <a:lstStyle/>
          <a:p>
            <a:pPr algn="ctr"/>
            <a:r>
              <a:rPr sz="1600" b="1" i="0">
                <a:solidFill>
                  <a:srgbClr val="FFFFFF"/>
                </a:solidFill>
                <a:latin typeface="Calibri"/>
              </a:rPr>
              <a:t>FRONTEND</a:t>
            </a:r>
          </a:p>
        </p:txBody>
      </p:sp>
      <p:sp>
        <p:nvSpPr>
          <p:cNvPr id="9" name="Rectangle 8"/>
          <p:cNvSpPr/>
          <p:nvPr/>
        </p:nvSpPr>
        <p:spPr>
          <a:xfrm>
            <a:off x="685800" y="2532888"/>
            <a:ext cx="3611880" cy="31089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43200"/>
            <a:ext cx="3291840" cy="3657600"/>
          </a:xfrm>
          <a:prstGeom prst="rect">
            <a:avLst/>
          </a:prstGeom>
          <a:noFill/>
        </p:spPr>
        <p:txBody>
          <a:bodyPr wrap="square" anchor="t">
            <a:spAutoFit/>
          </a:bodyPr>
          <a:lstStyle/>
          <a:p>
            <a:pPr>
              <a:spcBef>
                <a:spcPts val="0"/>
              </a:spcBef>
              <a:spcAft>
                <a:spcPts val="1200"/>
              </a:spcAft>
            </a:pPr>
            <a:r>
              <a:rPr sz="1400" b="0" i="0">
                <a:solidFill>
                  <a:srgbClr val="21252B"/>
                </a:solidFill>
                <a:latin typeface="Calibri"/>
              </a:rPr>
              <a:t>•   Flutter (Dart) — cross-platform</a:t>
            </a:r>
          </a:p>
          <a:p>
            <a:pPr>
              <a:spcBef>
                <a:spcPts val="0"/>
              </a:spcBef>
              <a:spcAft>
                <a:spcPts val="1200"/>
              </a:spcAft>
            </a:pPr>
            <a:r>
              <a:rPr sz="1400" b="0" i="0">
                <a:solidFill>
                  <a:srgbClr val="21252B"/>
                </a:solidFill>
                <a:latin typeface="Calibri"/>
              </a:rPr>
              <a:t>•   Provider — state management</a:t>
            </a:r>
          </a:p>
          <a:p>
            <a:pPr>
              <a:spcBef>
                <a:spcPts val="0"/>
              </a:spcBef>
              <a:spcAft>
                <a:spcPts val="1200"/>
              </a:spcAft>
            </a:pPr>
            <a:r>
              <a:rPr sz="1400" b="0" i="0">
                <a:solidFill>
                  <a:srgbClr val="21252B"/>
                </a:solidFill>
                <a:latin typeface="Calibri"/>
              </a:rPr>
              <a:t>•   flutter_screenutil — responsive UI</a:t>
            </a:r>
          </a:p>
          <a:p>
            <a:pPr>
              <a:spcBef>
                <a:spcPts val="0"/>
              </a:spcBef>
              <a:spcAft>
                <a:spcPts val="1200"/>
              </a:spcAft>
            </a:pPr>
            <a:r>
              <a:rPr sz="1400" b="0" i="0">
                <a:solidFill>
                  <a:srgbClr val="21252B"/>
                </a:solidFill>
                <a:latin typeface="Calibri"/>
              </a:rPr>
              <a:t>•   google_fonts, flutter_svg, shimmer</a:t>
            </a:r>
          </a:p>
        </p:txBody>
      </p:sp>
      <p:sp>
        <p:nvSpPr>
          <p:cNvPr id="11" name="Rectangle 10"/>
          <p:cNvSpPr/>
          <p:nvPr/>
        </p:nvSpPr>
        <p:spPr>
          <a:xfrm>
            <a:off x="4480560" y="1965960"/>
            <a:ext cx="3611880" cy="5669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0560" y="1965960"/>
            <a:ext cx="3611880" cy="566928"/>
          </a:xfrm>
          <a:prstGeom prst="rect">
            <a:avLst/>
          </a:prstGeom>
          <a:noFill/>
        </p:spPr>
        <p:txBody>
          <a:bodyPr wrap="square" anchor="ctr">
            <a:spAutoFit/>
          </a:bodyPr>
          <a:lstStyle/>
          <a:p>
            <a:pPr algn="ctr"/>
            <a:r>
              <a:rPr sz="1600" b="1" i="0">
                <a:solidFill>
                  <a:srgbClr val="FFFFFF"/>
                </a:solidFill>
                <a:latin typeface="Calibri"/>
              </a:rPr>
              <a:t>BACKEND</a:t>
            </a:r>
          </a:p>
        </p:txBody>
      </p:sp>
      <p:sp>
        <p:nvSpPr>
          <p:cNvPr id="13" name="Rectangle 12"/>
          <p:cNvSpPr/>
          <p:nvPr/>
        </p:nvSpPr>
        <p:spPr>
          <a:xfrm>
            <a:off x="4480560" y="2532888"/>
            <a:ext cx="3611880" cy="31089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743200"/>
            <a:ext cx="3291840" cy="3657600"/>
          </a:xfrm>
          <a:prstGeom prst="rect">
            <a:avLst/>
          </a:prstGeom>
          <a:noFill/>
        </p:spPr>
        <p:txBody>
          <a:bodyPr wrap="square" anchor="t">
            <a:spAutoFit/>
          </a:bodyPr>
          <a:lstStyle/>
          <a:p>
            <a:pPr>
              <a:spcBef>
                <a:spcPts val="0"/>
              </a:spcBef>
              <a:spcAft>
                <a:spcPts val="1200"/>
              </a:spcAft>
            </a:pPr>
            <a:r>
              <a:rPr sz="1400" b="0" i="0">
                <a:solidFill>
                  <a:srgbClr val="21252B"/>
                </a:solidFill>
                <a:latin typeface="Calibri"/>
              </a:rPr>
              <a:t>•   Firebase Authentication</a:t>
            </a:r>
          </a:p>
          <a:p>
            <a:pPr>
              <a:spcBef>
                <a:spcPts val="0"/>
              </a:spcBef>
              <a:spcAft>
                <a:spcPts val="1200"/>
              </a:spcAft>
            </a:pPr>
            <a:r>
              <a:rPr sz="1400" b="0" i="0">
                <a:solidFill>
                  <a:srgbClr val="21252B"/>
                </a:solidFill>
                <a:latin typeface="Calibri"/>
              </a:rPr>
              <a:t>•   Cloud Firestore (NoSQL DB)</a:t>
            </a:r>
          </a:p>
          <a:p>
            <a:pPr>
              <a:spcBef>
                <a:spcPts val="0"/>
              </a:spcBef>
              <a:spcAft>
                <a:spcPts val="1200"/>
              </a:spcAft>
            </a:pPr>
            <a:r>
              <a:rPr sz="1400" b="0" i="0">
                <a:solidFill>
                  <a:srgbClr val="21252B"/>
                </a:solidFill>
                <a:latin typeface="Calibri"/>
              </a:rPr>
              <a:t>•   Firebase Storage (images)</a:t>
            </a:r>
          </a:p>
          <a:p>
            <a:pPr>
              <a:spcBef>
                <a:spcPts val="0"/>
              </a:spcBef>
              <a:spcAft>
                <a:spcPts val="1200"/>
              </a:spcAft>
            </a:pPr>
            <a:r>
              <a:rPr sz="1400" b="0" i="0">
                <a:solidFill>
                  <a:srgbClr val="21252B"/>
                </a:solidFill>
                <a:latin typeface="Calibri"/>
              </a:rPr>
              <a:t>•   Cloud Functions (Node.js)</a:t>
            </a:r>
          </a:p>
        </p:txBody>
      </p:sp>
      <p:sp>
        <p:nvSpPr>
          <p:cNvPr id="15" name="Rectangle 14"/>
          <p:cNvSpPr/>
          <p:nvPr/>
        </p:nvSpPr>
        <p:spPr>
          <a:xfrm>
            <a:off x="8275320" y="1965960"/>
            <a:ext cx="3611880" cy="56692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75320" y="1965960"/>
            <a:ext cx="3611880" cy="566928"/>
          </a:xfrm>
          <a:prstGeom prst="rect">
            <a:avLst/>
          </a:prstGeom>
          <a:noFill/>
        </p:spPr>
        <p:txBody>
          <a:bodyPr wrap="square" anchor="ctr">
            <a:spAutoFit/>
          </a:bodyPr>
          <a:lstStyle/>
          <a:p>
            <a:pPr algn="ctr"/>
            <a:r>
              <a:rPr sz="1600" b="1" i="0">
                <a:solidFill>
                  <a:srgbClr val="FFFFFF"/>
                </a:solidFill>
                <a:latin typeface="Calibri"/>
              </a:rPr>
              <a:t>SERVICES</a:t>
            </a:r>
          </a:p>
        </p:txBody>
      </p:sp>
      <p:sp>
        <p:nvSpPr>
          <p:cNvPr id="17" name="Rectangle 16"/>
          <p:cNvSpPr/>
          <p:nvPr/>
        </p:nvSpPr>
        <p:spPr>
          <a:xfrm>
            <a:off x="8275320" y="2532888"/>
            <a:ext cx="3611880" cy="310896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58200" y="2743200"/>
            <a:ext cx="3291840" cy="3657600"/>
          </a:xfrm>
          <a:prstGeom prst="rect">
            <a:avLst/>
          </a:prstGeom>
          <a:noFill/>
        </p:spPr>
        <p:txBody>
          <a:bodyPr wrap="square" anchor="t">
            <a:spAutoFit/>
          </a:bodyPr>
          <a:lstStyle/>
          <a:p>
            <a:pPr>
              <a:spcBef>
                <a:spcPts val="0"/>
              </a:spcBef>
              <a:spcAft>
                <a:spcPts val="1200"/>
              </a:spcAft>
            </a:pPr>
            <a:r>
              <a:rPr sz="1400" b="0" i="0">
                <a:solidFill>
                  <a:srgbClr val="21252B"/>
                </a:solidFill>
                <a:latin typeface="Calibri"/>
              </a:rPr>
              <a:t>•   Firebase Cloud Messaging (FCM)</a:t>
            </a:r>
          </a:p>
          <a:p>
            <a:pPr>
              <a:spcBef>
                <a:spcPts val="0"/>
              </a:spcBef>
              <a:spcAft>
                <a:spcPts val="1200"/>
              </a:spcAft>
            </a:pPr>
            <a:r>
              <a:rPr sz="1400" b="0" i="0">
                <a:solidFill>
                  <a:srgbClr val="21252B"/>
                </a:solidFill>
                <a:latin typeface="Calibri"/>
              </a:rPr>
              <a:t>•   flutter_local_notifications</a:t>
            </a:r>
          </a:p>
          <a:p>
            <a:pPr>
              <a:spcBef>
                <a:spcPts val="0"/>
              </a:spcBef>
              <a:spcAft>
                <a:spcPts val="1200"/>
              </a:spcAft>
            </a:pPr>
            <a:r>
              <a:rPr sz="1400" b="0" i="0">
                <a:solidFill>
                  <a:srgbClr val="21252B"/>
                </a:solidFill>
                <a:latin typeface="Calibri"/>
              </a:rPr>
              <a:t>•   image_picker</a:t>
            </a:r>
          </a:p>
          <a:p>
            <a:pPr>
              <a:spcBef>
                <a:spcPts val="0"/>
              </a:spcBef>
              <a:spcAft>
                <a:spcPts val="1200"/>
              </a:spcAft>
            </a:pPr>
            <a:r>
              <a:rPr sz="1400" b="0" i="0">
                <a:solidFill>
                  <a:srgbClr val="21252B"/>
                </a:solidFill>
                <a:latin typeface="Calibri"/>
              </a:rPr>
              <a:t>•   url_launcher (calls/links)</a:t>
            </a:r>
          </a:p>
        </p:txBody>
      </p:sp>
      <p:sp>
        <p:nvSpPr>
          <p:cNvPr id="19" name="TextBox 18"/>
          <p:cNvSpPr txBox="1"/>
          <p:nvPr/>
        </p:nvSpPr>
        <p:spPr>
          <a:xfrm>
            <a:off x="685800" y="5897880"/>
            <a:ext cx="10789920" cy="548640"/>
          </a:xfrm>
          <a:prstGeom prst="rect">
            <a:avLst/>
          </a:prstGeom>
          <a:noFill/>
        </p:spPr>
        <p:txBody>
          <a:bodyPr wrap="square" anchor="t">
            <a:spAutoFit/>
          </a:bodyPr>
          <a:lstStyle/>
          <a:p>
            <a:r>
              <a:rPr sz="1300" b="0" i="1">
                <a:solidFill>
                  <a:srgbClr val="555C66"/>
                </a:solidFill>
                <a:latin typeface="Calibri"/>
              </a:rPr>
              <a:t>Why Flutter + Firebase?  One codebase for Android &amp; iOS, real-time database out of the box, and a serverless backend that scales without managing servers.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DESIGN</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System Architecture</a:t>
            </a:r>
          </a:p>
        </p:txBody>
      </p:sp>
      <p:sp>
        <p:nvSpPr>
          <p:cNvPr id="7" name="Rectangle 6"/>
          <p:cNvSpPr/>
          <p:nvPr/>
        </p:nvSpPr>
        <p:spPr>
          <a:xfrm>
            <a:off x="640080" y="1783080"/>
            <a:ext cx="10881360" cy="4160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7_system_architecture.png"/>
          <p:cNvPicPr>
            <a:picLocks noChangeAspect="1"/>
          </p:cNvPicPr>
          <p:nvPr/>
        </p:nvPicPr>
        <p:blipFill>
          <a:blip r:embed="rId2"/>
          <a:stretch>
            <a:fillRect/>
          </a:stretch>
        </p:blipFill>
        <p:spPr>
          <a:xfrm>
            <a:off x="4697491" y="1874520"/>
            <a:ext cx="2766537" cy="3977640"/>
          </a:xfrm>
          <a:prstGeom prst="rect">
            <a:avLst/>
          </a:prstGeom>
        </p:spPr>
      </p:pic>
      <p:sp>
        <p:nvSpPr>
          <p:cNvPr id="9" name="TextBox 8"/>
          <p:cNvSpPr txBox="1"/>
          <p:nvPr/>
        </p:nvSpPr>
        <p:spPr>
          <a:xfrm>
            <a:off x="640080" y="6035040"/>
            <a:ext cx="10881360" cy="548640"/>
          </a:xfrm>
          <a:prstGeom prst="rect">
            <a:avLst/>
          </a:prstGeom>
          <a:noFill/>
        </p:spPr>
        <p:txBody>
          <a:bodyPr wrap="square" anchor="t">
            <a:spAutoFit/>
          </a:bodyPr>
          <a:lstStyle/>
          <a:p>
            <a:pPr algn="ctr"/>
            <a:r>
              <a:rPr sz="1300" b="0" i="1">
                <a:solidFill>
                  <a:srgbClr val="555C66"/>
                </a:solidFill>
                <a:latin typeface="Calibri"/>
              </a:rPr>
              <a:t>Figure 3: Layered architecture — presentation (Flutter), logic (Providers/Services), data (Firebase).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REQUIREMENTS</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Use Case Diagram</a:t>
            </a:r>
          </a:p>
        </p:txBody>
      </p:sp>
      <p:sp>
        <p:nvSpPr>
          <p:cNvPr id="7" name="Rectangle 6"/>
          <p:cNvSpPr/>
          <p:nvPr/>
        </p:nvSpPr>
        <p:spPr>
          <a:xfrm>
            <a:off x="640080" y="1783080"/>
            <a:ext cx="10881360" cy="4160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2_use_case_UML.png"/>
          <p:cNvPicPr>
            <a:picLocks noChangeAspect="1"/>
          </p:cNvPicPr>
          <p:nvPr/>
        </p:nvPicPr>
        <p:blipFill>
          <a:blip r:embed="rId2"/>
          <a:stretch>
            <a:fillRect/>
          </a:stretch>
        </p:blipFill>
        <p:spPr>
          <a:xfrm>
            <a:off x="4065900" y="1874520"/>
            <a:ext cx="4029720" cy="3977640"/>
          </a:xfrm>
          <a:prstGeom prst="rect">
            <a:avLst/>
          </a:prstGeom>
        </p:spPr>
      </p:pic>
      <p:sp>
        <p:nvSpPr>
          <p:cNvPr id="9" name="TextBox 8"/>
          <p:cNvSpPr txBox="1"/>
          <p:nvPr/>
        </p:nvSpPr>
        <p:spPr>
          <a:xfrm>
            <a:off x="640080" y="6035040"/>
            <a:ext cx="10881360" cy="548640"/>
          </a:xfrm>
          <a:prstGeom prst="rect">
            <a:avLst/>
          </a:prstGeom>
          <a:noFill/>
        </p:spPr>
        <p:txBody>
          <a:bodyPr wrap="square" anchor="t">
            <a:spAutoFit/>
          </a:bodyPr>
          <a:lstStyle/>
          <a:p>
            <a:pPr algn="ctr"/>
            <a:r>
              <a:rPr sz="1300" b="0" i="1">
                <a:solidFill>
                  <a:srgbClr val="555C66"/>
                </a:solidFill>
                <a:latin typeface="Calibri"/>
              </a:rPr>
              <a:t>Figure 4: Two actors — User/Donor and Admin — and their interactions with the system.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DATA FLOW</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Data Flow Diagram — Level 0 (Context)</a:t>
            </a:r>
          </a:p>
        </p:txBody>
      </p:sp>
      <p:sp>
        <p:nvSpPr>
          <p:cNvPr id="7" name="Rectangle 6"/>
          <p:cNvSpPr/>
          <p:nvPr/>
        </p:nvSpPr>
        <p:spPr>
          <a:xfrm>
            <a:off x="640080" y="1783080"/>
            <a:ext cx="10881360" cy="4160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3_DFD_level0_context.png"/>
          <p:cNvPicPr>
            <a:picLocks noChangeAspect="1"/>
          </p:cNvPicPr>
          <p:nvPr/>
        </p:nvPicPr>
        <p:blipFill>
          <a:blip r:embed="rId2"/>
          <a:stretch>
            <a:fillRect/>
          </a:stretch>
        </p:blipFill>
        <p:spPr>
          <a:xfrm>
            <a:off x="2869414" y="1874520"/>
            <a:ext cx="6422692" cy="3977640"/>
          </a:xfrm>
          <a:prstGeom prst="rect">
            <a:avLst/>
          </a:prstGeom>
        </p:spPr>
      </p:pic>
      <p:sp>
        <p:nvSpPr>
          <p:cNvPr id="9" name="TextBox 8"/>
          <p:cNvSpPr txBox="1"/>
          <p:nvPr/>
        </p:nvSpPr>
        <p:spPr>
          <a:xfrm>
            <a:off x="640080" y="6035040"/>
            <a:ext cx="10881360" cy="548640"/>
          </a:xfrm>
          <a:prstGeom prst="rect">
            <a:avLst/>
          </a:prstGeom>
          <a:noFill/>
        </p:spPr>
        <p:txBody>
          <a:bodyPr wrap="square" anchor="t">
            <a:spAutoFit/>
          </a:bodyPr>
          <a:lstStyle/>
          <a:p>
            <a:pPr algn="ctr"/>
            <a:r>
              <a:rPr sz="1300" b="0" i="1">
                <a:solidFill>
                  <a:srgbClr val="555C66"/>
                </a:solidFill>
                <a:latin typeface="Calibri"/>
              </a:rPr>
              <a:t>Figure 5: The whole system as one process, with external entities and data flows.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DATA FLOW</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Data Flow Diagram — Level 1</a:t>
            </a:r>
          </a:p>
        </p:txBody>
      </p:sp>
      <p:sp>
        <p:nvSpPr>
          <p:cNvPr id="7" name="Rectangle 6"/>
          <p:cNvSpPr/>
          <p:nvPr/>
        </p:nvSpPr>
        <p:spPr>
          <a:xfrm>
            <a:off x="640080" y="1783080"/>
            <a:ext cx="10881360" cy="4160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4_DFD_level1.png"/>
          <p:cNvPicPr>
            <a:picLocks noChangeAspect="1"/>
          </p:cNvPicPr>
          <p:nvPr/>
        </p:nvPicPr>
        <p:blipFill>
          <a:blip r:embed="rId2"/>
          <a:stretch>
            <a:fillRect/>
          </a:stretch>
        </p:blipFill>
        <p:spPr>
          <a:xfrm>
            <a:off x="2775729" y="1874520"/>
            <a:ext cx="6610061" cy="3977640"/>
          </a:xfrm>
          <a:prstGeom prst="rect">
            <a:avLst/>
          </a:prstGeom>
        </p:spPr>
      </p:pic>
      <p:sp>
        <p:nvSpPr>
          <p:cNvPr id="9" name="TextBox 8"/>
          <p:cNvSpPr txBox="1"/>
          <p:nvPr/>
        </p:nvSpPr>
        <p:spPr>
          <a:xfrm>
            <a:off x="640080" y="6035040"/>
            <a:ext cx="10881360" cy="548640"/>
          </a:xfrm>
          <a:prstGeom prst="rect">
            <a:avLst/>
          </a:prstGeom>
          <a:noFill/>
        </p:spPr>
        <p:txBody>
          <a:bodyPr wrap="square" anchor="t">
            <a:spAutoFit/>
          </a:bodyPr>
          <a:lstStyle/>
          <a:p>
            <a:pPr algn="ctr"/>
            <a:r>
              <a:rPr sz="1300" b="0" i="1">
                <a:solidFill>
                  <a:srgbClr val="555C66"/>
                </a:solidFill>
                <a:latin typeface="Calibri"/>
              </a:rPr>
              <a:t>Figure 6: The system decomposed into its main processes and data stores.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DATA MODEL</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Entity Relationship Diagram (ERD)</a:t>
            </a:r>
          </a:p>
        </p:txBody>
      </p:sp>
      <p:sp>
        <p:nvSpPr>
          <p:cNvPr id="7" name="Rectangle 6"/>
          <p:cNvSpPr/>
          <p:nvPr/>
        </p:nvSpPr>
        <p:spPr>
          <a:xfrm>
            <a:off x="640080" y="1783080"/>
            <a:ext cx="10881360" cy="4160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_ERD.png"/>
          <p:cNvPicPr>
            <a:picLocks noChangeAspect="1"/>
          </p:cNvPicPr>
          <p:nvPr/>
        </p:nvPicPr>
        <p:blipFill>
          <a:blip r:embed="rId2"/>
          <a:stretch>
            <a:fillRect/>
          </a:stretch>
        </p:blipFill>
        <p:spPr>
          <a:xfrm>
            <a:off x="2805056" y="1874520"/>
            <a:ext cx="6551407" cy="3977640"/>
          </a:xfrm>
          <a:prstGeom prst="rect">
            <a:avLst/>
          </a:prstGeom>
        </p:spPr>
      </p:pic>
      <p:sp>
        <p:nvSpPr>
          <p:cNvPr id="9" name="TextBox 8"/>
          <p:cNvSpPr txBox="1"/>
          <p:nvPr/>
        </p:nvSpPr>
        <p:spPr>
          <a:xfrm>
            <a:off x="640080" y="6035040"/>
            <a:ext cx="10881360" cy="548640"/>
          </a:xfrm>
          <a:prstGeom prst="rect">
            <a:avLst/>
          </a:prstGeom>
          <a:noFill/>
        </p:spPr>
        <p:txBody>
          <a:bodyPr wrap="square" anchor="t">
            <a:spAutoFit/>
          </a:bodyPr>
          <a:lstStyle/>
          <a:p>
            <a:pPr algn="ctr"/>
            <a:r>
              <a:rPr sz="1300" b="0" i="1">
                <a:solidFill>
                  <a:srgbClr val="555C66"/>
                </a:solidFill>
                <a:latin typeface="Calibri"/>
              </a:rPr>
              <a:t>Figure 7: Core entities — User, Blood Request, Chat, Message, Notification, and the directory tables.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DATA MODEL</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Database Design — Firestore Collections</a:t>
            </a:r>
          </a:p>
        </p:txBody>
      </p:sp>
      <p:sp>
        <p:nvSpPr>
          <p:cNvPr id="7" name="Rectangle 6"/>
          <p:cNvSpPr/>
          <p:nvPr/>
        </p:nvSpPr>
        <p:spPr>
          <a:xfrm>
            <a:off x="640080" y="1783080"/>
            <a:ext cx="10881360" cy="416052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8_database_design.png"/>
          <p:cNvPicPr>
            <a:picLocks noChangeAspect="1"/>
          </p:cNvPicPr>
          <p:nvPr/>
        </p:nvPicPr>
        <p:blipFill>
          <a:blip r:embed="rId2"/>
          <a:stretch>
            <a:fillRect/>
          </a:stretch>
        </p:blipFill>
        <p:spPr>
          <a:xfrm>
            <a:off x="3255582" y="1874520"/>
            <a:ext cx="5650356" cy="3977640"/>
          </a:xfrm>
          <a:prstGeom prst="rect">
            <a:avLst/>
          </a:prstGeom>
        </p:spPr>
      </p:pic>
      <p:sp>
        <p:nvSpPr>
          <p:cNvPr id="9" name="TextBox 8"/>
          <p:cNvSpPr txBox="1"/>
          <p:nvPr/>
        </p:nvSpPr>
        <p:spPr>
          <a:xfrm>
            <a:off x="640080" y="6035040"/>
            <a:ext cx="10881360" cy="548640"/>
          </a:xfrm>
          <a:prstGeom prst="rect">
            <a:avLst/>
          </a:prstGeom>
          <a:noFill/>
        </p:spPr>
        <p:txBody>
          <a:bodyPr wrap="square" anchor="t">
            <a:spAutoFit/>
          </a:bodyPr>
          <a:lstStyle/>
          <a:p>
            <a:pPr algn="ctr"/>
            <a:r>
              <a:rPr sz="1300" b="0" i="1">
                <a:solidFill>
                  <a:srgbClr val="555C66"/>
                </a:solidFill>
                <a:latin typeface="Calibri"/>
              </a:rPr>
              <a:t>Figure 8: NoSQL document schema for each Firestore collection and sub-collection.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TRUST &amp; SAFETY</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Security &amp; Data Protection</a:t>
            </a:r>
          </a:p>
        </p:txBody>
      </p:sp>
      <p:sp>
        <p:nvSpPr>
          <p:cNvPr id="7" name="TextBox 6"/>
          <p:cNvSpPr txBox="1"/>
          <p:nvPr/>
        </p:nvSpPr>
        <p:spPr>
          <a:xfrm>
            <a:off x="685800" y="1920240"/>
            <a:ext cx="10789920" cy="4480560"/>
          </a:xfrm>
          <a:prstGeom prst="rect">
            <a:avLst/>
          </a:prstGeom>
          <a:noFill/>
        </p:spPr>
        <p:txBody>
          <a:bodyPr wrap="square" anchor="t">
            <a:spAutoFit/>
          </a:bodyPr>
          <a:lstStyle/>
          <a:p>
            <a:pPr>
              <a:spcBef>
                <a:spcPts val="0"/>
              </a:spcBef>
              <a:spcAft>
                <a:spcPts val="1300"/>
              </a:spcAft>
            </a:pPr>
            <a:r>
              <a:rPr sz="1600" b="0" i="0">
                <a:solidFill>
                  <a:srgbClr val="21252B"/>
                </a:solidFill>
                <a:latin typeface="Calibri"/>
              </a:rPr>
              <a:t>•   Authentication required: every read/write demands a signed-in user (request.auth != null).</a:t>
            </a:r>
          </a:p>
          <a:p>
            <a:pPr>
              <a:spcBef>
                <a:spcPts val="0"/>
              </a:spcBef>
              <a:spcAft>
                <a:spcPts val="1300"/>
              </a:spcAft>
            </a:pPr>
            <a:r>
              <a:rPr sz="1600" b="0" i="0">
                <a:solidFill>
                  <a:srgbClr val="21252B"/>
                </a:solidFill>
                <a:latin typeface="Calibri"/>
              </a:rPr>
              <a:t>•   Data ownership: users can only edit or delete their own profile and their own requests.</a:t>
            </a:r>
          </a:p>
          <a:p>
            <a:pPr>
              <a:spcBef>
                <a:spcPts val="0"/>
              </a:spcBef>
              <a:spcAft>
                <a:spcPts val="1300"/>
              </a:spcAft>
            </a:pPr>
            <a:r>
              <a:rPr sz="1600" b="0" i="0">
                <a:solidFill>
                  <a:srgbClr val="21252B"/>
                </a:solidFill>
                <a:latin typeface="Calibri"/>
              </a:rPr>
              <a:t>•   Chat privacy: only the two participants of a conversation can read or write its messages.</a:t>
            </a:r>
          </a:p>
          <a:p>
            <a:pPr>
              <a:spcBef>
                <a:spcPts val="0"/>
              </a:spcBef>
              <a:spcAft>
                <a:spcPts val="1300"/>
              </a:spcAft>
            </a:pPr>
            <a:r>
              <a:rPr sz="1600" b="0" i="0">
                <a:solidFill>
                  <a:srgbClr val="21252B"/>
                </a:solidFill>
                <a:latin typeface="Calibri"/>
              </a:rPr>
              <a:t>•   Directory data (ambulances, organizations, volunteers) is read-only for normal users.</a:t>
            </a:r>
          </a:p>
          <a:p>
            <a:pPr>
              <a:spcBef>
                <a:spcPts val="0"/>
              </a:spcBef>
              <a:spcAft>
                <a:spcPts val="1300"/>
              </a:spcAft>
            </a:pPr>
            <a:r>
              <a:rPr sz="1600" b="0" i="0">
                <a:solidFill>
                  <a:srgbClr val="21252B"/>
                </a:solidFill>
                <a:latin typeface="Calibri"/>
              </a:rPr>
              <a:t>•   Image uploads to Firebase Storage are size-limited and restricted to authenticated users.</a:t>
            </a:r>
          </a:p>
          <a:p>
            <a:pPr>
              <a:spcBef>
                <a:spcPts val="0"/>
              </a:spcBef>
              <a:spcAft>
                <a:spcPts val="1300"/>
              </a:spcAft>
            </a:pPr>
            <a:r>
              <a:rPr sz="1600" b="0" i="0">
                <a:solidFill>
                  <a:srgbClr val="21252B"/>
                </a:solidFill>
                <a:latin typeface="Calibri"/>
              </a:rPr>
              <a:t>•   Rules are enforced server-side by Firestore &amp; Storage — they cannot be bypassed by the client.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QUALITY</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Testing &amp; Validation</a:t>
            </a:r>
          </a:p>
        </p:txBody>
      </p:sp>
      <p:sp>
        <p:nvSpPr>
          <p:cNvPr id="7" name="TextBox 6"/>
          <p:cNvSpPr txBox="1"/>
          <p:nvPr/>
        </p:nvSpPr>
        <p:spPr>
          <a:xfrm>
            <a:off x="685800" y="1920240"/>
            <a:ext cx="10789920" cy="4480560"/>
          </a:xfrm>
          <a:prstGeom prst="rect">
            <a:avLst/>
          </a:prstGeom>
          <a:noFill/>
        </p:spPr>
        <p:txBody>
          <a:bodyPr wrap="square" anchor="t">
            <a:spAutoFit/>
          </a:bodyPr>
          <a:lstStyle/>
          <a:p>
            <a:pPr>
              <a:spcBef>
                <a:spcPts val="0"/>
              </a:spcBef>
              <a:spcAft>
                <a:spcPts val="1200"/>
              </a:spcAft>
            </a:pPr>
            <a:r>
              <a:rPr sz="1600" b="0" i="0">
                <a:solidFill>
                  <a:srgbClr val="21252B"/>
                </a:solidFill>
                <a:latin typeface="Calibri"/>
              </a:rPr>
              <a:t>•   Functional testing: every feature manually tested against its requirement (register, post, match, chat).</a:t>
            </a:r>
          </a:p>
          <a:p>
            <a:pPr>
              <a:spcBef>
                <a:spcPts val="0"/>
              </a:spcBef>
              <a:spcAft>
                <a:spcPts val="1200"/>
              </a:spcAft>
            </a:pPr>
            <a:r>
              <a:rPr sz="1600" b="0" i="0">
                <a:solidFill>
                  <a:srgbClr val="21252B"/>
                </a:solidFill>
                <a:latin typeface="Calibri"/>
              </a:rPr>
              <a:t>•   Matching tests: verified donors are notified only on exact blood-group + city match, creator excluded.</a:t>
            </a:r>
          </a:p>
          <a:p>
            <a:pPr>
              <a:spcBef>
                <a:spcPts val="0"/>
              </a:spcBef>
              <a:spcAft>
                <a:spcPts val="1200"/>
              </a:spcAft>
            </a:pPr>
            <a:r>
              <a:rPr sz="1600" b="0" i="0">
                <a:solidFill>
                  <a:srgbClr val="21252B"/>
                </a:solidFill>
                <a:latin typeface="Calibri"/>
              </a:rPr>
              <a:t>•   Notification testing: confirmed push delivery in foreground and background on real devices.</a:t>
            </a:r>
          </a:p>
          <a:p>
            <a:pPr>
              <a:spcBef>
                <a:spcPts val="0"/>
              </a:spcBef>
              <a:spcAft>
                <a:spcPts val="1200"/>
              </a:spcAft>
            </a:pPr>
            <a:r>
              <a:rPr sz="1600" b="0" i="0">
                <a:solidFill>
                  <a:srgbClr val="21252B"/>
                </a:solidFill>
                <a:latin typeface="Calibri"/>
              </a:rPr>
              <a:t>•   Cross-device testing: ran on multiple Android screen sizes (responsive UI via ScreenUtil).</a:t>
            </a:r>
          </a:p>
          <a:p>
            <a:pPr>
              <a:spcBef>
                <a:spcPts val="0"/>
              </a:spcBef>
              <a:spcAft>
                <a:spcPts val="1200"/>
              </a:spcAft>
            </a:pPr>
            <a:r>
              <a:rPr sz="1600" b="0" i="0">
                <a:solidFill>
                  <a:srgbClr val="21252B"/>
                </a:solidFill>
                <a:latin typeface="Calibri"/>
              </a:rPr>
              <a:t>•   Security testing: attempted unauthorized reads/writes — correctly blocked by Firestore rules.</a:t>
            </a:r>
          </a:p>
          <a:p>
            <a:pPr>
              <a:spcBef>
                <a:spcPts val="0"/>
              </a:spcBef>
              <a:spcAft>
                <a:spcPts val="1200"/>
              </a:spcAft>
            </a:pPr>
            <a:r>
              <a:rPr sz="1600" b="0" i="0">
                <a:solidFill>
                  <a:srgbClr val="21252B"/>
                </a:solidFill>
                <a:latin typeface="Calibri"/>
              </a:rPr>
              <a:t>•   Usability testing: informal feedback from peers to refine navigation and labels.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OUTCOME</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Results &amp; Impact</a:t>
            </a:r>
          </a:p>
        </p:txBody>
      </p:sp>
      <p:sp>
        <p:nvSpPr>
          <p:cNvPr id="7" name="Rectangle 6"/>
          <p:cNvSpPr/>
          <p:nvPr/>
        </p:nvSpPr>
        <p:spPr>
          <a:xfrm>
            <a:off x="777240" y="1965960"/>
            <a:ext cx="2468880" cy="1143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12264"/>
            <a:ext cx="2468880" cy="548640"/>
          </a:xfrm>
          <a:prstGeom prst="rect">
            <a:avLst/>
          </a:prstGeom>
          <a:noFill/>
        </p:spPr>
        <p:txBody>
          <a:bodyPr wrap="square" anchor="ctr">
            <a:spAutoFit/>
          </a:bodyPr>
          <a:lstStyle/>
          <a:p>
            <a:pPr algn="ctr"/>
            <a:r>
              <a:rPr sz="2600" b="1" i="0">
                <a:solidFill>
                  <a:srgbClr val="C62828"/>
                </a:solidFill>
                <a:latin typeface="Calibri"/>
              </a:rPr>
              <a:t>9+</a:t>
            </a:r>
          </a:p>
        </p:txBody>
      </p:sp>
      <p:sp>
        <p:nvSpPr>
          <p:cNvPr id="9" name="TextBox 8"/>
          <p:cNvSpPr txBox="1"/>
          <p:nvPr/>
        </p:nvSpPr>
        <p:spPr>
          <a:xfrm>
            <a:off x="777240" y="2642616"/>
            <a:ext cx="2468880" cy="411480"/>
          </a:xfrm>
          <a:prstGeom prst="rect">
            <a:avLst/>
          </a:prstGeom>
          <a:noFill/>
        </p:spPr>
        <p:txBody>
          <a:bodyPr wrap="square" anchor="ctr">
            <a:spAutoFit/>
          </a:bodyPr>
          <a:lstStyle/>
          <a:p>
            <a:pPr algn="ctr"/>
            <a:r>
              <a:rPr sz="1200" b="1" i="0">
                <a:solidFill>
                  <a:srgbClr val="555C66"/>
                </a:solidFill>
                <a:latin typeface="Calibri"/>
              </a:rPr>
              <a:t>Core Features</a:t>
            </a:r>
          </a:p>
        </p:txBody>
      </p:sp>
      <p:sp>
        <p:nvSpPr>
          <p:cNvPr id="10" name="Rectangle 9"/>
          <p:cNvSpPr/>
          <p:nvPr/>
        </p:nvSpPr>
        <p:spPr>
          <a:xfrm>
            <a:off x="3429000" y="1965960"/>
            <a:ext cx="2468880" cy="1143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29000" y="2112264"/>
            <a:ext cx="2468880" cy="548640"/>
          </a:xfrm>
          <a:prstGeom prst="rect">
            <a:avLst/>
          </a:prstGeom>
          <a:noFill/>
        </p:spPr>
        <p:txBody>
          <a:bodyPr wrap="square" anchor="ctr">
            <a:spAutoFit/>
          </a:bodyPr>
          <a:lstStyle/>
          <a:p>
            <a:pPr algn="ctr"/>
            <a:r>
              <a:rPr sz="2600" b="1" i="0">
                <a:solidFill>
                  <a:srgbClr val="C62828"/>
                </a:solidFill>
                <a:latin typeface="Calibri"/>
              </a:rPr>
              <a:t>25+</a:t>
            </a:r>
          </a:p>
        </p:txBody>
      </p:sp>
      <p:sp>
        <p:nvSpPr>
          <p:cNvPr id="12" name="TextBox 11"/>
          <p:cNvSpPr txBox="1"/>
          <p:nvPr/>
        </p:nvSpPr>
        <p:spPr>
          <a:xfrm>
            <a:off x="3429000" y="2642616"/>
            <a:ext cx="2468880" cy="411480"/>
          </a:xfrm>
          <a:prstGeom prst="rect">
            <a:avLst/>
          </a:prstGeom>
          <a:noFill/>
        </p:spPr>
        <p:txBody>
          <a:bodyPr wrap="square" anchor="ctr">
            <a:spAutoFit/>
          </a:bodyPr>
          <a:lstStyle/>
          <a:p>
            <a:pPr algn="ctr"/>
            <a:r>
              <a:rPr sz="1200" b="1" i="0">
                <a:solidFill>
                  <a:srgbClr val="555C66"/>
                </a:solidFill>
                <a:latin typeface="Calibri"/>
              </a:rPr>
              <a:t>App Screens</a:t>
            </a:r>
          </a:p>
        </p:txBody>
      </p:sp>
      <p:sp>
        <p:nvSpPr>
          <p:cNvPr id="13" name="Rectangle 12"/>
          <p:cNvSpPr/>
          <p:nvPr/>
        </p:nvSpPr>
        <p:spPr>
          <a:xfrm>
            <a:off x="6080760" y="1965960"/>
            <a:ext cx="2468880" cy="1143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80760" y="2112264"/>
            <a:ext cx="2468880" cy="548640"/>
          </a:xfrm>
          <a:prstGeom prst="rect">
            <a:avLst/>
          </a:prstGeom>
          <a:noFill/>
        </p:spPr>
        <p:txBody>
          <a:bodyPr wrap="square" anchor="ctr">
            <a:spAutoFit/>
          </a:bodyPr>
          <a:lstStyle/>
          <a:p>
            <a:pPr algn="ctr"/>
            <a:r>
              <a:rPr sz="2600" b="1" i="0">
                <a:solidFill>
                  <a:srgbClr val="C62828"/>
                </a:solidFill>
                <a:latin typeface="Calibri"/>
              </a:rPr>
              <a:t>iOS + Android</a:t>
            </a:r>
          </a:p>
        </p:txBody>
      </p:sp>
      <p:sp>
        <p:nvSpPr>
          <p:cNvPr id="15" name="TextBox 14"/>
          <p:cNvSpPr txBox="1"/>
          <p:nvPr/>
        </p:nvSpPr>
        <p:spPr>
          <a:xfrm>
            <a:off x="6080760" y="2642616"/>
            <a:ext cx="2468880" cy="411480"/>
          </a:xfrm>
          <a:prstGeom prst="rect">
            <a:avLst/>
          </a:prstGeom>
          <a:noFill/>
        </p:spPr>
        <p:txBody>
          <a:bodyPr wrap="square" anchor="ctr">
            <a:spAutoFit/>
          </a:bodyPr>
          <a:lstStyle/>
          <a:p>
            <a:pPr algn="ctr"/>
            <a:r>
              <a:rPr sz="1200" b="1" i="0">
                <a:solidFill>
                  <a:srgbClr val="555C66"/>
                </a:solidFill>
                <a:latin typeface="Calibri"/>
              </a:rPr>
              <a:t>Platforms</a:t>
            </a:r>
          </a:p>
        </p:txBody>
      </p:sp>
      <p:sp>
        <p:nvSpPr>
          <p:cNvPr id="16" name="Rectangle 15"/>
          <p:cNvSpPr/>
          <p:nvPr/>
        </p:nvSpPr>
        <p:spPr>
          <a:xfrm>
            <a:off x="8732520" y="1965960"/>
            <a:ext cx="2468880" cy="1143000"/>
          </a:xfrm>
          <a:prstGeom prst="rect">
            <a:avLst/>
          </a:prstGeom>
          <a:solidFill>
            <a:srgbClr val="F6F7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32520" y="2112264"/>
            <a:ext cx="2468880" cy="548640"/>
          </a:xfrm>
          <a:prstGeom prst="rect">
            <a:avLst/>
          </a:prstGeom>
          <a:noFill/>
        </p:spPr>
        <p:txBody>
          <a:bodyPr wrap="square" anchor="ctr">
            <a:spAutoFit/>
          </a:bodyPr>
          <a:lstStyle/>
          <a:p>
            <a:pPr algn="ctr"/>
            <a:r>
              <a:rPr sz="2600" b="1" i="0">
                <a:solidFill>
                  <a:srgbClr val="C62828"/>
                </a:solidFill>
                <a:latin typeface="Calibri"/>
              </a:rPr>
              <a:t>Seconds</a:t>
            </a:r>
          </a:p>
        </p:txBody>
      </p:sp>
      <p:sp>
        <p:nvSpPr>
          <p:cNvPr id="18" name="TextBox 17"/>
          <p:cNvSpPr txBox="1"/>
          <p:nvPr/>
        </p:nvSpPr>
        <p:spPr>
          <a:xfrm>
            <a:off x="8732520" y="2642616"/>
            <a:ext cx="2468880" cy="411480"/>
          </a:xfrm>
          <a:prstGeom prst="rect">
            <a:avLst/>
          </a:prstGeom>
          <a:noFill/>
        </p:spPr>
        <p:txBody>
          <a:bodyPr wrap="square" anchor="ctr">
            <a:spAutoFit/>
          </a:bodyPr>
          <a:lstStyle/>
          <a:p>
            <a:pPr algn="ctr"/>
            <a:r>
              <a:rPr sz="1200" b="1" i="0">
                <a:solidFill>
                  <a:srgbClr val="555C66"/>
                </a:solidFill>
                <a:latin typeface="Calibri"/>
              </a:rPr>
              <a:t>Match Time</a:t>
            </a:r>
          </a:p>
        </p:txBody>
      </p:sp>
      <p:sp>
        <p:nvSpPr>
          <p:cNvPr id="19" name="TextBox 18"/>
          <p:cNvSpPr txBox="1"/>
          <p:nvPr/>
        </p:nvSpPr>
        <p:spPr>
          <a:xfrm>
            <a:off x="685800" y="3520440"/>
            <a:ext cx="10789920" cy="2880360"/>
          </a:xfrm>
          <a:prstGeom prst="rect">
            <a:avLst/>
          </a:prstGeom>
          <a:noFill/>
        </p:spPr>
        <p:txBody>
          <a:bodyPr wrap="square" anchor="t">
            <a:spAutoFit/>
          </a:bodyPr>
          <a:lstStyle/>
          <a:p>
            <a:pPr>
              <a:spcBef>
                <a:spcPts val="0"/>
              </a:spcBef>
              <a:spcAft>
                <a:spcPts val="1300"/>
              </a:spcAft>
            </a:pPr>
            <a:r>
              <a:rPr sz="1600" b="0" i="0">
                <a:solidFill>
                  <a:srgbClr val="21252B"/>
                </a:solidFill>
                <a:latin typeface="Calibri"/>
              </a:rPr>
              <a:t>•   Delivered a fully working cross-platform app from a single Flutter codebase.</a:t>
            </a:r>
          </a:p>
          <a:p>
            <a:pPr>
              <a:spcBef>
                <a:spcPts val="0"/>
              </a:spcBef>
              <a:spcAft>
                <a:spcPts val="1300"/>
              </a:spcAft>
            </a:pPr>
            <a:r>
              <a:rPr sz="1600" b="0" i="0">
                <a:solidFill>
                  <a:srgbClr val="21252B"/>
                </a:solidFill>
                <a:latin typeface="Calibri"/>
              </a:rPr>
              <a:t>•   Reduced donor discovery from many manual phone calls to one automatic, targeted broadcast.</a:t>
            </a:r>
          </a:p>
          <a:p>
            <a:pPr>
              <a:spcBef>
                <a:spcPts val="0"/>
              </a:spcBef>
              <a:spcAft>
                <a:spcPts val="1300"/>
              </a:spcAft>
            </a:pPr>
            <a:r>
              <a:rPr sz="1600" b="0" i="0">
                <a:solidFill>
                  <a:srgbClr val="21252B"/>
                </a:solidFill>
                <a:latin typeface="Calibri"/>
              </a:rPr>
              <a:t>•   Real-time matching, chat and notifications all functioning on live Firebase infrastructure.</a:t>
            </a:r>
          </a:p>
          <a:p>
            <a:pPr>
              <a:spcBef>
                <a:spcPts val="0"/>
              </a:spcBef>
              <a:spcAft>
                <a:spcPts val="1300"/>
              </a:spcAft>
            </a:pPr>
            <a:r>
              <a:rPr sz="1600" b="0" i="0">
                <a:solidFill>
                  <a:srgbClr val="21252B"/>
                </a:solidFill>
                <a:latin typeface="Calibri"/>
              </a:rPr>
              <a:t>•   Centralized emergency services (ambulances, blood banks, volunteers) into one accessible place.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REFLECTION</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Challenges &amp; Lessons Learned</a:t>
            </a:r>
          </a:p>
        </p:txBody>
      </p:sp>
      <p:sp>
        <p:nvSpPr>
          <p:cNvPr id="7" name="TextBox 6"/>
          <p:cNvSpPr txBox="1"/>
          <p:nvPr/>
        </p:nvSpPr>
        <p:spPr>
          <a:xfrm>
            <a:off x="685800" y="1874519"/>
            <a:ext cx="10789920" cy="4526281"/>
          </a:xfrm>
          <a:prstGeom prst="rect">
            <a:avLst/>
          </a:prstGeom>
          <a:noFill/>
        </p:spPr>
        <p:txBody>
          <a:bodyPr wrap="square" anchor="t">
            <a:spAutoFit/>
          </a:bodyPr>
          <a:lstStyle/>
          <a:p>
            <a:pPr>
              <a:spcBef>
                <a:spcPts val="0"/>
              </a:spcBef>
              <a:spcAft>
                <a:spcPts val="1000"/>
              </a:spcAft>
            </a:pPr>
            <a:r>
              <a:rPr sz="1600" b="0" i="0">
                <a:solidFill>
                  <a:srgbClr val="21252B"/>
                </a:solidFill>
                <a:latin typeface="Calibri"/>
              </a:rPr>
              <a:t>•   Cloud Functions &amp; FCM: getting server-side matching and reliable push delivery right took iteration.</a:t>
            </a:r>
          </a:p>
          <a:p>
            <a:pPr lvl="1">
              <a:spcBef>
                <a:spcPts val="0"/>
              </a:spcBef>
              <a:spcAft>
                <a:spcPts val="1000"/>
              </a:spcAft>
            </a:pPr>
            <a:r>
              <a:rPr sz="1500" b="0" i="0">
                <a:solidFill>
                  <a:srgbClr val="555C66"/>
                </a:solidFill>
                <a:latin typeface="Calibri"/>
              </a:rPr>
              <a:t>–   Learned to normalize data (case, whitespace) so matching is robust.</a:t>
            </a:r>
          </a:p>
          <a:p>
            <a:pPr>
              <a:spcBef>
                <a:spcPts val="0"/>
              </a:spcBef>
              <a:spcAft>
                <a:spcPts val="1000"/>
              </a:spcAft>
            </a:pPr>
            <a:r>
              <a:rPr sz="1600" b="0" i="0">
                <a:solidFill>
                  <a:srgbClr val="21252B"/>
                </a:solidFill>
                <a:latin typeface="Calibri"/>
              </a:rPr>
              <a:t>•   Real-time chat: managing Firestore streams without duplicate listeners or memory leaks.</a:t>
            </a:r>
          </a:p>
          <a:p>
            <a:pPr lvl="1">
              <a:spcBef>
                <a:spcPts val="0"/>
              </a:spcBef>
              <a:spcAft>
                <a:spcPts val="1000"/>
              </a:spcAft>
            </a:pPr>
            <a:r>
              <a:rPr sz="1500" b="0" i="0">
                <a:solidFill>
                  <a:srgbClr val="555C66"/>
                </a:solidFill>
                <a:latin typeface="Calibri"/>
              </a:rPr>
              <a:t>–   Learned to cache subscriptions and dispose them properly.</a:t>
            </a:r>
          </a:p>
          <a:p>
            <a:pPr>
              <a:spcBef>
                <a:spcPts val="0"/>
              </a:spcBef>
              <a:spcAft>
                <a:spcPts val="1000"/>
              </a:spcAft>
            </a:pPr>
            <a:r>
              <a:rPr sz="1600" b="0" i="0">
                <a:solidFill>
                  <a:srgbClr val="21252B"/>
                </a:solidFill>
                <a:latin typeface="Calibri"/>
              </a:rPr>
              <a:t>•   State management: Provider taught me to keep UI and business logic cleanly separated.</a:t>
            </a:r>
          </a:p>
          <a:p>
            <a:pPr>
              <a:spcBef>
                <a:spcPts val="0"/>
              </a:spcBef>
              <a:spcAft>
                <a:spcPts val="1000"/>
              </a:spcAft>
            </a:pPr>
            <a:r>
              <a:rPr sz="1600" b="0" i="0">
                <a:solidFill>
                  <a:srgbClr val="21252B"/>
                </a:solidFill>
                <a:latin typeface="Calibri"/>
              </a:rPr>
              <a:t>•   Security rules: writing rules that are strict yet don't break legitimate features.</a:t>
            </a:r>
          </a:p>
          <a:p>
            <a:pPr>
              <a:spcBef>
                <a:spcPts val="0"/>
              </a:spcBef>
              <a:spcAft>
                <a:spcPts val="1000"/>
              </a:spcAft>
            </a:pPr>
            <a:r>
              <a:rPr sz="1600" b="0" i="0">
                <a:solidFill>
                  <a:srgbClr val="21252B"/>
                </a:solidFill>
                <a:latin typeface="Calibri"/>
              </a:rPr>
              <a:t>•   Overall: end-to-end ownership of a real product — design, build, test and document.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WHAT'S NEXT</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Future Enhancements</a:t>
            </a:r>
          </a:p>
        </p:txBody>
      </p:sp>
      <p:sp>
        <p:nvSpPr>
          <p:cNvPr id="7" name="TextBox 6"/>
          <p:cNvSpPr txBox="1"/>
          <p:nvPr/>
        </p:nvSpPr>
        <p:spPr>
          <a:xfrm>
            <a:off x="685800" y="1874519"/>
            <a:ext cx="10789920" cy="4526281"/>
          </a:xfrm>
          <a:prstGeom prst="rect">
            <a:avLst/>
          </a:prstGeom>
          <a:noFill/>
        </p:spPr>
        <p:txBody>
          <a:bodyPr wrap="square" anchor="t">
            <a:spAutoFit/>
          </a:bodyPr>
          <a:lstStyle/>
          <a:p>
            <a:pPr>
              <a:spcBef>
                <a:spcPts val="0"/>
              </a:spcBef>
              <a:spcAft>
                <a:spcPts val="1100"/>
              </a:spcAft>
            </a:pPr>
            <a:r>
              <a:rPr sz="1600" b="0" i="0">
                <a:solidFill>
                  <a:srgbClr val="21252B"/>
                </a:solidFill>
                <a:latin typeface="Calibri"/>
              </a:rPr>
              <a:t>•   GPS &amp; live maps: show nearby donors and route to the hospital in real time.</a:t>
            </a:r>
          </a:p>
          <a:p>
            <a:pPr>
              <a:spcBef>
                <a:spcPts val="0"/>
              </a:spcBef>
              <a:spcAft>
                <a:spcPts val="1100"/>
              </a:spcAft>
            </a:pPr>
            <a:r>
              <a:rPr sz="1600" b="0" i="0">
                <a:solidFill>
                  <a:srgbClr val="21252B"/>
                </a:solidFill>
                <a:latin typeface="Calibri"/>
              </a:rPr>
              <a:t>•   Donation history &amp; gamification: badges and reminders to encourage repeat donation.</a:t>
            </a:r>
          </a:p>
          <a:p>
            <a:pPr>
              <a:spcBef>
                <a:spcPts val="0"/>
              </a:spcBef>
              <a:spcAft>
                <a:spcPts val="1100"/>
              </a:spcAft>
            </a:pPr>
            <a:r>
              <a:rPr sz="1600" b="0" i="0">
                <a:solidFill>
                  <a:srgbClr val="21252B"/>
                </a:solidFill>
                <a:latin typeface="Calibri"/>
              </a:rPr>
              <a:t>•   Verified blood banks: integrate official inventory so users see real-time stock.</a:t>
            </a:r>
          </a:p>
          <a:p>
            <a:pPr>
              <a:spcBef>
                <a:spcPts val="0"/>
              </a:spcBef>
              <a:spcAft>
                <a:spcPts val="1100"/>
              </a:spcAft>
            </a:pPr>
            <a:r>
              <a:rPr sz="1600" b="0" i="0">
                <a:solidFill>
                  <a:srgbClr val="21252B"/>
                </a:solidFill>
                <a:latin typeface="Calibri"/>
              </a:rPr>
              <a:t>•   Admin web dashboard: manage directory content and view analytics.</a:t>
            </a:r>
          </a:p>
          <a:p>
            <a:pPr>
              <a:spcBef>
                <a:spcPts val="0"/>
              </a:spcBef>
              <a:spcAft>
                <a:spcPts val="1100"/>
              </a:spcAft>
            </a:pPr>
            <a:r>
              <a:rPr sz="1600" b="0" i="0">
                <a:solidFill>
                  <a:srgbClr val="21252B"/>
                </a:solidFill>
                <a:latin typeface="Calibri"/>
              </a:rPr>
              <a:t>•   Multi-language support to widen accessibility.</a:t>
            </a:r>
          </a:p>
          <a:p>
            <a:pPr>
              <a:spcBef>
                <a:spcPts val="0"/>
              </a:spcBef>
              <a:spcAft>
                <a:spcPts val="1100"/>
              </a:spcAft>
            </a:pPr>
            <a:r>
              <a:rPr sz="1600" b="0" i="0">
                <a:solidFill>
                  <a:srgbClr val="21252B"/>
                </a:solidFill>
                <a:latin typeface="Calibri"/>
              </a:rPr>
              <a:t>•   AI-assisted urgency ranking to prioritize the most critical requests.</a:t>
            </a:r>
          </a:p>
          <a:p>
            <a:pPr>
              <a:spcBef>
                <a:spcPts val="0"/>
              </a:spcBef>
              <a:spcAft>
                <a:spcPts val="1100"/>
              </a:spcAft>
            </a:pPr>
            <a:r>
              <a:rPr sz="1600" b="0" i="0">
                <a:solidFill>
                  <a:srgbClr val="21252B"/>
                </a:solidFill>
                <a:latin typeface="Calibri"/>
              </a:rPr>
              <a:t>•   Optional medical verification for added trust and safety.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502920"/>
            <a:ext cx="502920" cy="82296"/>
          </a:xfrm>
          <a:prstGeom prst="rect">
            <a:avLst/>
          </a:prstGeom>
          <a:solidFill>
            <a:srgbClr val="E539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21792"/>
            <a:ext cx="10972800" cy="365760"/>
          </a:xfrm>
          <a:prstGeom prst="rect">
            <a:avLst/>
          </a:prstGeom>
          <a:noFill/>
        </p:spPr>
        <p:txBody>
          <a:bodyPr wrap="square" anchor="t">
            <a:spAutoFit/>
          </a:bodyPr>
          <a:lstStyle/>
          <a:p>
            <a:r>
              <a:rPr sz="1200" b="1" i="0">
                <a:solidFill>
                  <a:srgbClr val="C62828"/>
                </a:solidFill>
                <a:latin typeface="Calibri"/>
              </a:rPr>
              <a:t>WRAP-UP</a:t>
            </a:r>
          </a:p>
        </p:txBody>
      </p:sp>
      <p:sp>
        <p:nvSpPr>
          <p:cNvPr id="6" name="TextBox 5"/>
          <p:cNvSpPr txBox="1"/>
          <p:nvPr/>
        </p:nvSpPr>
        <p:spPr>
          <a:xfrm>
            <a:off x="530352" y="914400"/>
            <a:ext cx="11155680" cy="822960"/>
          </a:xfrm>
          <a:prstGeom prst="rect">
            <a:avLst/>
          </a:prstGeom>
          <a:noFill/>
        </p:spPr>
        <p:txBody>
          <a:bodyPr wrap="square" anchor="t">
            <a:spAutoFit/>
          </a:bodyPr>
          <a:lstStyle/>
          <a:p>
            <a:r>
              <a:rPr sz="3000" b="1" i="0">
                <a:solidFill>
                  <a:srgbClr val="21252B"/>
                </a:solidFill>
                <a:latin typeface="Calibri"/>
              </a:rPr>
              <a:t>Conclusion</a:t>
            </a:r>
          </a:p>
        </p:txBody>
      </p:sp>
      <p:sp>
        <p:nvSpPr>
          <p:cNvPr id="7" name="TextBox 6"/>
          <p:cNvSpPr txBox="1"/>
          <p:nvPr/>
        </p:nvSpPr>
        <p:spPr>
          <a:xfrm>
            <a:off x="685800" y="2011680"/>
            <a:ext cx="10789920" cy="4389120"/>
          </a:xfrm>
          <a:prstGeom prst="rect">
            <a:avLst/>
          </a:prstGeom>
          <a:noFill/>
        </p:spPr>
        <p:txBody>
          <a:bodyPr wrap="square" anchor="t">
            <a:spAutoFit/>
          </a:bodyPr>
          <a:lstStyle/>
          <a:p>
            <a:pPr>
              <a:spcBef>
                <a:spcPts val="0"/>
              </a:spcBef>
              <a:spcAft>
                <a:spcPts val="1600"/>
              </a:spcAft>
            </a:pPr>
            <a:r>
              <a:rPr sz="1800" b="0" i="0">
                <a:solidFill>
                  <a:srgbClr val="21252B"/>
                </a:solidFill>
                <a:latin typeface="Calibri"/>
              </a:rPr>
              <a:t>•   Life Link tackles a real, life-critical problem: finding matching blood donors fast.</a:t>
            </a:r>
          </a:p>
          <a:p>
            <a:pPr>
              <a:spcBef>
                <a:spcPts val="0"/>
              </a:spcBef>
              <a:spcAft>
                <a:spcPts val="1600"/>
              </a:spcAft>
            </a:pPr>
            <a:r>
              <a:rPr sz="1800" b="0" i="0">
                <a:solidFill>
                  <a:srgbClr val="21252B"/>
                </a:solidFill>
                <a:latin typeface="Calibri"/>
              </a:rPr>
              <a:t>•   It replaces slow manual calling with automatic, location-and-blood-group-aware matching.</a:t>
            </a:r>
          </a:p>
          <a:p>
            <a:pPr>
              <a:spcBef>
                <a:spcPts val="0"/>
              </a:spcBef>
              <a:spcAft>
                <a:spcPts val="1600"/>
              </a:spcAft>
            </a:pPr>
            <a:r>
              <a:rPr sz="1800" b="0" i="0">
                <a:solidFill>
                  <a:srgbClr val="21252B"/>
                </a:solidFill>
                <a:latin typeface="Calibri"/>
              </a:rPr>
              <a:t>•   Built on a modern, scalable stack — Flutter for one cross-platform app, Firebase for a real-time serverless backend.</a:t>
            </a:r>
          </a:p>
          <a:p>
            <a:pPr>
              <a:spcBef>
                <a:spcPts val="0"/>
              </a:spcBef>
              <a:spcAft>
                <a:spcPts val="1600"/>
              </a:spcAft>
            </a:pPr>
            <a:r>
              <a:rPr sz="1800" b="0" i="0">
                <a:solidFill>
                  <a:srgbClr val="21252B"/>
                </a:solidFill>
                <a:latin typeface="Calibri"/>
              </a:rPr>
              <a:t>•   All core objectives were met: requests, matching, notifications, chat, directory and security.</a:t>
            </a:r>
          </a:p>
          <a:p>
            <a:pPr>
              <a:spcBef>
                <a:spcPts val="0"/>
              </a:spcBef>
              <a:spcAft>
                <a:spcPts val="1600"/>
              </a:spcAft>
            </a:pPr>
            <a:r>
              <a:rPr sz="1800" b="0" i="0">
                <a:solidFill>
                  <a:srgbClr val="21252B"/>
                </a:solidFill>
                <a:latin typeface="Calibri"/>
              </a:rPr>
              <a:t>•   The result is a practical platform with genuine potential to save lives.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125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11480" cy="685800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93408"/>
            <a:ext cx="12191695" cy="164592"/>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377440"/>
            <a:ext cx="10332720" cy="1371600"/>
          </a:xfrm>
          <a:prstGeom prst="rect">
            <a:avLst/>
          </a:prstGeom>
          <a:noFill/>
        </p:spPr>
        <p:txBody>
          <a:bodyPr wrap="square" anchor="t">
            <a:spAutoFit/>
          </a:bodyPr>
          <a:lstStyle/>
          <a:p>
            <a:r>
              <a:rPr sz="6000" b="1" i="0">
                <a:solidFill>
                  <a:srgbClr val="FFFFFF"/>
                </a:solidFill>
                <a:latin typeface="Calibri"/>
              </a:rPr>
              <a:t>Thank You</a:t>
            </a:r>
          </a:p>
        </p:txBody>
      </p:sp>
      <p:sp>
        <p:nvSpPr>
          <p:cNvPr id="6" name="TextBox 5"/>
          <p:cNvSpPr txBox="1"/>
          <p:nvPr/>
        </p:nvSpPr>
        <p:spPr>
          <a:xfrm>
            <a:off x="960120" y="3566160"/>
            <a:ext cx="10058400" cy="640080"/>
          </a:xfrm>
          <a:prstGeom prst="rect">
            <a:avLst/>
          </a:prstGeom>
          <a:noFill/>
        </p:spPr>
        <p:txBody>
          <a:bodyPr wrap="square" anchor="t">
            <a:spAutoFit/>
          </a:bodyPr>
          <a:lstStyle/>
          <a:p>
            <a:r>
              <a:rPr sz="2600" b="1" i="0">
                <a:solidFill>
                  <a:srgbClr val="E53935"/>
                </a:solidFill>
                <a:latin typeface="Calibri"/>
              </a:rPr>
              <a:t>Questions &amp; Discussion</a:t>
            </a:r>
          </a:p>
        </p:txBody>
      </p:sp>
      <p:pic>
        <p:nvPicPr>
          <p:cNvPr id="7" name="Picture 6" descr="uni_logo.png"/>
          <p:cNvPicPr>
            <a:picLocks noChangeAspect="1"/>
          </p:cNvPicPr>
          <p:nvPr/>
        </p:nvPicPr>
        <p:blipFill>
          <a:blip r:embed="rId2"/>
          <a:stretch>
            <a:fillRect/>
          </a:stretch>
        </p:blipFill>
        <p:spPr>
          <a:xfrm>
            <a:off x="9555480" y="548640"/>
            <a:ext cx="1737360" cy="1737360"/>
          </a:xfrm>
          <a:prstGeom prst="rect">
            <a:avLst/>
          </a:prstGeom>
        </p:spPr>
      </p:pic>
      <p:sp>
        <p:nvSpPr>
          <p:cNvPr id="8" name="TextBox 7"/>
          <p:cNvSpPr txBox="1"/>
          <p:nvPr/>
        </p:nvSpPr>
        <p:spPr>
          <a:xfrm>
            <a:off x="960120" y="4572000"/>
            <a:ext cx="10058400" cy="1280160"/>
          </a:xfrm>
          <a:prstGeom prst="rect">
            <a:avLst/>
          </a:prstGeom>
          <a:noFill/>
        </p:spPr>
        <p:txBody>
          <a:bodyPr wrap="square" anchor="t">
            <a:spAutoFit/>
          </a:bodyPr>
          <a:lstStyle/>
          <a:p>
            <a:r>
              <a:rPr sz="1600" b="1" i="0">
                <a:solidFill>
                  <a:srgbClr val="FFFFFF"/>
                </a:solidFill>
                <a:latin typeface="Calibri"/>
              </a:rPr>
              <a:t>Life Link</a:t>
            </a:r>
            <a:r>
              <a:rPr sz="1600" b="0" i="0">
                <a:solidFill>
                  <a:srgbClr val="C9CCD1"/>
                </a:solidFill>
                <a:latin typeface="Calibri"/>
              </a:rPr>
              <a:t>  —  A Blood Donation &amp; Emergency Response Platform</a:t>
            </a:r>
          </a:p>
          <a:p>
            <a:pPr>
              <a:spcBef>
                <a:spcPts val="800"/>
              </a:spcBef>
            </a:pPr>
            <a:r>
              <a:rPr sz="1400" b="0" i="0">
                <a:solidFill>
                  <a:srgbClr val="FFFFFF"/>
                </a:solidFill>
                <a:latin typeface="Calibri"/>
              </a:rPr>
              <a:t>Ubaid Ullah  •  M. Saad Awan  •  Umar Rashid</a:t>
            </a:r>
          </a:p>
          <a:p>
            <a:pPr>
              <a:spcBef>
                <a:spcPts val="400"/>
              </a:spcBef>
            </a:pPr>
            <a:r>
              <a:rPr sz="1300" b="0" i="0">
                <a:solidFill>
                  <a:srgbClr val="555C66"/>
                </a:solidFill>
                <a:latin typeface="Calibri"/>
              </a:rPr>
              <a:t>Supervisor: Engr. Waseem Ullah Khan  •  ICS/IT, The University of Agriculture, Peshawar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